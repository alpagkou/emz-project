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D27"/>
    <a:srgbClr val="269834"/>
    <a:srgbClr val="3B833D"/>
    <a:srgbClr val="C557D8"/>
    <a:srgbClr val="B831CF"/>
    <a:srgbClr val="0000FF"/>
    <a:srgbClr val="952898"/>
    <a:srgbClr val="6A0DAD"/>
    <a:srgbClr val="3F7F5F"/>
    <a:srgbClr val="000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AD49-53CA-77E6-4643-1AB5AF635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AA6AB-0163-0F19-C210-284E5558C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7F619-C2D9-C47C-59E4-94A9B87F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C0F6E-4366-E5FB-FF00-A44EBB69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EC74B-051D-D624-4164-C1A08DA9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98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4519-5C53-DBB8-0B63-782ACE3B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57DD9-475E-F75C-49CA-0FAA070DA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AE726-3B56-CE5A-0F72-C1BE1F2EC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7A423-93E9-EAFE-4878-73C43ECA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A7B4F-0368-2FEF-386C-F5143151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2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7FFD-3C76-EF0E-89DC-BC7AFB04A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9CCDE-59B1-22EA-6F98-62C7DD22C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73F0B-0403-4D94-C4C8-7746EF42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AA575-4589-975C-8394-1B8FCED8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561D4-3E4C-FAA2-48D9-2820D1AD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1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50C9-45DF-4EE2-81DC-7C26B65A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47B2A-6C6A-98BA-1E88-FA17CFD36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18EE3-A6D2-AFF3-B55B-C53A4C036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91DCB-5719-DDCD-C90A-CA24DDC8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A8E46-080D-1F49-020B-93B20F70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3117D-B567-D897-8FB3-1F1E45E5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9C7AA-3FBB-1BEE-F695-1CBE84E0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BC780-2BD9-E05B-4441-8D0A68C9A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4707D-470D-FE2E-944A-7624C4DA4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B25E3-1ABD-43E3-0EA2-B0B9DACE3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F42CC-F870-F932-82FD-07F0BDAE3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14346-35A1-0093-444D-F3066C52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A5401-C4D5-7D95-8F0F-FE3CA3E8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494C1-2D5C-4D39-8757-DAC473E8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19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CD991-3141-1D95-34D5-513427F4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BE22A-7767-862E-DE35-2B856595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8EFD9-801E-9B01-FC3F-14C9E9C0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50ECC-CEEF-5B3A-B90F-C8A3366E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2EC50-38B5-A518-B4E3-FD825849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3EDE7-F03C-550D-B4CC-18A04D78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00EC-5EE0-88B0-7A8E-48FBE6A9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8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D3EA-115B-A09A-3E9A-46E552A53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97E08-85F1-144E-D7BE-AEABD85F5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257F-B029-726E-273E-8C7C08C01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2BD75-6709-1659-553D-5D349D57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E3D59-1054-25E9-93E7-751C4BC9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7E604-3FA2-8170-3EA2-58BB2B67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23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5AFA-4D8C-F7B3-0706-9C6738158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4DDAD-101F-E7A5-3490-2F65B12C5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5D970-C260-390F-7C56-3A3B6D1C6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E0B45-D2FA-2342-105B-1470FE5D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D766A-5C0D-9F30-C12A-CD7588F5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CC39C-63A7-4C53-4BDF-5D66975E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90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244F-7FB3-45D2-D4AA-68FE8C23E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30367-0719-AEEE-962E-2F6BFB0E3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246CB-AEA1-E70B-CFB6-682C7824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54BC-A0A1-2AC8-DE40-C2E88814F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E4E14-5247-018B-7003-F2118012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8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36E86-9BC5-62AD-BD3C-1AF58C514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F5A55-DB25-B0E4-71BD-F6163B9DB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F7EF8-B16D-D08B-8822-0F787408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BB262-FABA-5BB1-FEE0-F5BC6F83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5579-CA52-D681-1A06-A7F47D56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4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2A68E-63C4-427C-1102-48AFE4A1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DB264-C9C4-1DE1-92FE-B6345CCB8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EF86-317E-2AD0-51DA-466520FF1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D7ABA-2B92-46EF-8AD6-4CD932BF8DA2}" type="datetimeFigureOut">
              <a:rPr lang="en-US" smtClean="0"/>
              <a:t>12/16/2025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0C8D4-67C7-F6B0-372D-CCA9F1C6A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2658-0EAA-9CC5-EA30-A2663308B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A0358-CFAC-420A-8B8A-3D132C807C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28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Alexandar%20Pagkou\Desktop\&#1058;&#1077;&#1089;&#1090;%20&#1085;&#1072;%20&#1082;&#1086;&#1076;.mp4" TargetMode="External"/><Relationship Id="rId2" Type="http://schemas.openxmlformats.org/officeDocument/2006/relationships/hyperlink" Target="file:///C:\Users\Alexandar%20Pagkou\Desktop\&#1050;&#1086;&#1076;%20&#1086;&#1075;&#1083;&#1077;&#1076;&#1072;&#1083;&#1086;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B004-C7B3-B62F-7B64-E0BB40905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34329"/>
            <a:ext cx="12192000" cy="2387600"/>
          </a:xfrm>
        </p:spPr>
        <p:txBody>
          <a:bodyPr>
            <a:normAutofit/>
          </a:bodyPr>
          <a:lstStyle/>
          <a:p>
            <a:r>
              <a:rPr lang="bg-BG" dirty="0"/>
              <a:t>Проектиране огледало на автомобил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8435B-E705-E791-E5D5-C1502FEBB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1881" y="4767796"/>
            <a:ext cx="9144000" cy="195024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bg-BG" dirty="0"/>
              <a:t>Дисциплина: Електромеханични задвижвания</a:t>
            </a:r>
          </a:p>
          <a:p>
            <a:pPr algn="r"/>
            <a:r>
              <a:rPr lang="bg-BG" dirty="0"/>
              <a:t>Катедра: Силова Електроника</a:t>
            </a:r>
          </a:p>
          <a:p>
            <a:pPr algn="r"/>
            <a:r>
              <a:rPr lang="bg-BG" dirty="0"/>
              <a:t>Ръководител: Християн Кънчев</a:t>
            </a:r>
          </a:p>
          <a:p>
            <a:pPr algn="r"/>
            <a:r>
              <a:rPr lang="bg-BG" dirty="0"/>
              <a:t>Изготвили: Александър Пагу</a:t>
            </a:r>
            <a:r>
              <a:rPr lang="en-US" dirty="0"/>
              <a:t> </a:t>
            </a:r>
            <a:r>
              <a:rPr lang="bg-BG" dirty="0"/>
              <a:t> 941222018</a:t>
            </a:r>
          </a:p>
          <a:p>
            <a:pPr algn="r"/>
            <a:r>
              <a:rPr lang="bg-BG" dirty="0"/>
              <a:t>   Никола Станев 941222017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4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728D-C5DD-AD9B-A659-D6C15263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I. </a:t>
            </a:r>
            <a:r>
              <a:rPr lang="bg-BG" sz="5300" b="1" dirty="0"/>
              <a:t>Хардуер.</a:t>
            </a:r>
            <a:br>
              <a:rPr lang="bg-BG" dirty="0"/>
            </a:br>
            <a:r>
              <a:rPr lang="bg-BG" dirty="0"/>
              <a:t>1. Принципна схема.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5F3F9-BB6C-BE35-4CFB-6F40BA92B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712" y="1343818"/>
            <a:ext cx="7820575" cy="5495927"/>
          </a:xfrm>
        </p:spPr>
      </p:pic>
    </p:spTree>
    <p:extLst>
      <p:ext uri="{BB962C8B-B14F-4D97-AF65-F5344CB8AC3E}">
        <p14:creationId xmlns:p14="http://schemas.microsoft.com/office/powerpoint/2010/main" val="217175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4CE20-BB4D-8151-340A-2D64B144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2. </a:t>
            </a:r>
            <a:r>
              <a:rPr lang="en-US" sz="4000" dirty="0"/>
              <a:t>Bill of Materials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36C5B1-471E-16EB-8C3D-C9996E59B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94" y="1390262"/>
            <a:ext cx="11247011" cy="167919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C251C68-3018-945A-0D80-A9D7DE6752C5}"/>
              </a:ext>
            </a:extLst>
          </p:cNvPr>
          <p:cNvSpPr txBox="1">
            <a:spLocks/>
          </p:cNvSpPr>
          <p:nvPr/>
        </p:nvSpPr>
        <p:spPr>
          <a:xfrm>
            <a:off x="838200" y="2769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4000" dirty="0"/>
              <a:t>3. Списък с използваните компоненти</a:t>
            </a:r>
            <a:endParaRPr lang="en-US" sz="4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1DFC94-8900-E85C-F60F-C4173994E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36503"/>
              </p:ext>
            </p:extLst>
          </p:nvPr>
        </p:nvGraphicFramePr>
        <p:xfrm>
          <a:off x="472494" y="3788539"/>
          <a:ext cx="11247010" cy="27043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3505">
                  <a:extLst>
                    <a:ext uri="{9D8B030D-6E8A-4147-A177-3AD203B41FA5}">
                      <a16:colId xmlns:a16="http://schemas.microsoft.com/office/drawing/2014/main" val="2214428607"/>
                    </a:ext>
                  </a:extLst>
                </a:gridCol>
                <a:gridCol w="5623505">
                  <a:extLst>
                    <a:ext uri="{9D8B030D-6E8A-4147-A177-3AD203B41FA5}">
                      <a16:colId xmlns:a16="http://schemas.microsoft.com/office/drawing/2014/main" val="330990043"/>
                    </a:ext>
                  </a:extLst>
                </a:gridCol>
              </a:tblGrid>
              <a:tr h="386334">
                <a:tc>
                  <a:txBody>
                    <a:bodyPr/>
                    <a:lstStyle/>
                    <a:p>
                      <a:r>
                        <a:rPr lang="bg-BG" b="1" dirty="0"/>
                        <a:t>Изпозлвани компоненти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1" dirty="0"/>
                        <a:t>Брой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55397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en-US" dirty="0"/>
                        <a:t>Nucleo-64 </a:t>
                      </a:r>
                      <a:r>
                        <a:rPr lang="bg-BG" dirty="0"/>
                        <a:t>с </a:t>
                      </a:r>
                      <a:r>
                        <a:rPr lang="en-US" dirty="0"/>
                        <a:t>STM32G474RET6 ARM Cortex-M4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958030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bg-BG" dirty="0"/>
                        <a:t>Драйвер за моторите: </a:t>
                      </a:r>
                      <a:r>
                        <a:rPr lang="en-US" dirty="0"/>
                        <a:t>VNH7070ASTR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166645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bg-BG" dirty="0"/>
                        <a:t>Лабораторен захрахващ блок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644249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en-US" dirty="0"/>
                        <a:t>DC </a:t>
                      </a:r>
                      <a:r>
                        <a:rPr lang="bg-BG" dirty="0"/>
                        <a:t>мотор за движение на стъклото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740125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bg-BG" dirty="0"/>
                        <a:t>Мигач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603817"/>
                  </a:ext>
                </a:extLst>
              </a:tr>
              <a:tr h="386334">
                <a:tc>
                  <a:txBody>
                    <a:bodyPr/>
                    <a:lstStyle/>
                    <a:p>
                      <a:r>
                        <a:rPr lang="bg-BG" dirty="0"/>
                        <a:t>Резистори за АЦП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 х 511 </a:t>
                      </a:r>
                      <a:r>
                        <a:rPr lang="el-GR" dirty="0"/>
                        <a:t>Ω</a:t>
                      </a:r>
                      <a:r>
                        <a:rPr lang="bg-BG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271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67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A4CE-5C8A-7CC8-835D-A6C293D9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300" b="1" dirty="0"/>
              <a:t>II. </a:t>
            </a:r>
            <a:r>
              <a:rPr lang="bg-BG" sz="5300" b="1" dirty="0"/>
              <a:t>Софтуер.</a:t>
            </a:r>
            <a:br>
              <a:rPr lang="bg-BG" dirty="0"/>
            </a:br>
            <a:r>
              <a:rPr lang="bg-BG" dirty="0"/>
              <a:t>1. Проектиране на </a:t>
            </a:r>
            <a:r>
              <a:rPr lang="en-US" dirty="0"/>
              <a:t>IOC</a:t>
            </a:r>
            <a:r>
              <a:rPr lang="bg-BG" dirty="0"/>
              <a:t>.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CF965C3-4A8D-FF43-54B1-8E5E88AF1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9" r="18405"/>
          <a:stretch>
            <a:fillRect/>
          </a:stretch>
        </p:blipFill>
        <p:spPr>
          <a:xfrm>
            <a:off x="298579" y="1253331"/>
            <a:ext cx="4581332" cy="54248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3DC9FD-1B7B-38D6-FD71-126A44701241}"/>
              </a:ext>
            </a:extLst>
          </p:cNvPr>
          <p:cNvSpPr txBox="1"/>
          <p:nvPr/>
        </p:nvSpPr>
        <p:spPr>
          <a:xfrm>
            <a:off x="5365103" y="1253331"/>
            <a:ext cx="662473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200" b="1" dirty="0"/>
              <a:t>Конфигурация на пиновете: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PB5 – Output </a:t>
            </a:r>
            <a:r>
              <a:rPr lang="bg-BG" dirty="0"/>
              <a:t>за движение нагоре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PB9 – Output </a:t>
            </a:r>
            <a:r>
              <a:rPr lang="bg-BG" dirty="0"/>
              <a:t>за движение надолу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PA6 – Output </a:t>
            </a:r>
            <a:r>
              <a:rPr lang="bg-BG" dirty="0"/>
              <a:t>за движение наляво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PA7 – Output </a:t>
            </a:r>
            <a:r>
              <a:rPr lang="bg-BG" dirty="0"/>
              <a:t>за движение надясно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PB7 – Output </a:t>
            </a:r>
            <a:r>
              <a:rPr lang="bg-BG" dirty="0"/>
              <a:t>към мигач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PC15 – Output </a:t>
            </a:r>
            <a:r>
              <a:rPr lang="bg-BG" dirty="0"/>
              <a:t>за разрешаване на </a:t>
            </a:r>
            <a:r>
              <a:rPr lang="en-US" dirty="0"/>
              <a:t>SEL0 </a:t>
            </a:r>
            <a:r>
              <a:rPr lang="bg-BG" dirty="0"/>
              <a:t>и </a:t>
            </a:r>
            <a:r>
              <a:rPr lang="en-US" dirty="0"/>
              <a:t>PWM</a:t>
            </a:r>
            <a:r>
              <a:rPr lang="bg-BG" dirty="0"/>
              <a:t> на драйвера управляващ мотора за вертикално движение на стъклото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PC1</a:t>
            </a:r>
            <a:r>
              <a:rPr lang="bg-BG" dirty="0"/>
              <a:t>4</a:t>
            </a:r>
            <a:r>
              <a:rPr lang="en-US" dirty="0"/>
              <a:t> – Output </a:t>
            </a:r>
            <a:r>
              <a:rPr lang="bg-BG" dirty="0"/>
              <a:t>за разрешаване на </a:t>
            </a:r>
            <a:r>
              <a:rPr lang="en-US" dirty="0"/>
              <a:t>SEL0 </a:t>
            </a:r>
            <a:r>
              <a:rPr lang="bg-BG" dirty="0"/>
              <a:t>и </a:t>
            </a:r>
            <a:r>
              <a:rPr lang="en-US" dirty="0"/>
              <a:t>PWM</a:t>
            </a:r>
            <a:r>
              <a:rPr lang="bg-BG" dirty="0"/>
              <a:t> на драйвера управляващ мотора за хоризонтално движение на стъклото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PC13 – Input </a:t>
            </a:r>
            <a:r>
              <a:rPr lang="bg-BG" dirty="0"/>
              <a:t>от джойстика за активиране на мигача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PB10 </a:t>
            </a:r>
            <a:r>
              <a:rPr lang="bg-BG" dirty="0"/>
              <a:t>– </a:t>
            </a:r>
            <a:r>
              <a:rPr lang="en-US" dirty="0"/>
              <a:t>Input </a:t>
            </a:r>
            <a:r>
              <a:rPr lang="bg-BG" dirty="0"/>
              <a:t>от джойстика за движение нагоре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PC5 – Input </a:t>
            </a:r>
            <a:r>
              <a:rPr lang="bg-BG" dirty="0"/>
              <a:t>от джойстика за движение надолу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PC4 – Input </a:t>
            </a:r>
            <a:r>
              <a:rPr lang="bg-BG" dirty="0"/>
              <a:t>от джойстика за движение наляво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PB2 – Input </a:t>
            </a:r>
            <a:r>
              <a:rPr lang="bg-BG" dirty="0"/>
              <a:t>от джойстика за движение надясно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bg-B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PC0 – </a:t>
            </a:r>
            <a:r>
              <a:rPr lang="bg-BG" dirty="0"/>
              <a:t>АЦП за определяне на хоризонталната позиция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PC1 – </a:t>
            </a:r>
            <a:r>
              <a:rPr lang="bg-BG" dirty="0"/>
              <a:t>АЦП за определяне на вертикалната позиция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67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524C-3D9D-29F0-0B1A-BE897A52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2. Код.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C8B19-DAAA-ECB2-CAA5-30DC7A0A1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1446245"/>
            <a:ext cx="11597951" cy="5046630"/>
          </a:xfrm>
        </p:spPr>
        <p:txBody>
          <a:bodyPr>
            <a:normAutofit fontScale="550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3600" b="1" dirty="0"/>
              <a:t>2.1. Дефиниции:</a:t>
            </a:r>
            <a:endParaRPr lang="bg-BG" sz="2700" b="1" dirty="0"/>
          </a:p>
          <a:p>
            <a:pPr marL="0" indent="0">
              <a:buNone/>
            </a:pPr>
            <a:r>
              <a:rPr lang="en-US" dirty="0">
                <a:solidFill>
                  <a:srgbClr val="219D27"/>
                </a:solidFill>
              </a:rPr>
              <a:t>/* USER CODE BEGIN Includes */</a:t>
            </a: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VREF_ADC </a:t>
            </a:r>
            <a:r>
              <a:rPr lang="en-US" dirty="0">
                <a:solidFill>
                  <a:srgbClr val="0000FF"/>
                </a:solidFill>
              </a:rPr>
              <a:t>3300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//Дефинираме референтно напрежение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RefrencePositionLeftRight </a:t>
            </a:r>
            <a:r>
              <a:rPr lang="en-US" dirty="0">
                <a:solidFill>
                  <a:srgbClr val="0000FF"/>
                </a:solidFill>
              </a:rPr>
              <a:t>2025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//Дефиниране на хоризонтална централна позиция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RefrencePositionUpDown </a:t>
            </a:r>
            <a:r>
              <a:rPr lang="en-US" dirty="0">
                <a:solidFill>
                  <a:srgbClr val="0000FF"/>
                </a:solidFill>
              </a:rPr>
              <a:t>2100</a:t>
            </a:r>
            <a:r>
              <a:rPr lang="bg-BG" dirty="0">
                <a:solidFill>
                  <a:srgbClr val="00B050"/>
                </a:solidFill>
              </a:rPr>
              <a:t> </a:t>
            </a:r>
            <a:r>
              <a:rPr lang="bg-BG" dirty="0">
                <a:solidFill>
                  <a:srgbClr val="219D27"/>
                </a:solidFill>
              </a:rPr>
              <a:t>//Дефиниране на вертикална централна позиция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Hys </a:t>
            </a:r>
            <a:r>
              <a:rPr lang="en-US" dirty="0">
                <a:solidFill>
                  <a:srgbClr val="0000FF"/>
                </a:solidFill>
              </a:rPr>
              <a:t>10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//Дефиниране на хистерезис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On GPIO_PIN_RESET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улеснение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Off GPIO_PIN_SET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улеснение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Button_Click() HAL_GPIO_ReadPin(GPIOC, GPIO_PIN_13)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натиснат бутон на джойстика на контролера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Button_Up() HAL_GPIO_ReadPin(GPIOB, GPIO_PIN_10)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позиция на джойстика нагоре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Button_Down() HAL_GPIO_ReadPin(GPIOC, GPIO_PIN_5)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позиция на джойстика надолу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Button_Left() HAL_GPIO_ReadPin(GPIOC, GPIO_PIN_4)</a:t>
            </a:r>
            <a:r>
              <a:rPr lang="bg-BG" dirty="0">
                <a:solidFill>
                  <a:srgbClr val="3F7F5F"/>
                </a:solidFill>
              </a:rPr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позиция на джойстика наляво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Button_Right() HAL_GPIO_ReadPin(GPIOB, GPIO_PIN_2)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позиция на джойстика надясно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Blinker_On() HAL_GPIO_WritePin(GPIOB, GPIO_PIN_7, Off)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включено състояние на мигача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B831CF"/>
                </a:solidFill>
              </a:rPr>
              <a:t>#define </a:t>
            </a:r>
            <a:r>
              <a:rPr lang="en-US" dirty="0"/>
              <a:t>Blinker_Off() HAL_GPIO_WritePin(GPIOB, GPIO_PIN_7, On)</a:t>
            </a:r>
            <a:r>
              <a:rPr lang="bg-BG" dirty="0"/>
              <a:t> </a:t>
            </a:r>
            <a:r>
              <a:rPr lang="bg-BG" dirty="0">
                <a:solidFill>
                  <a:srgbClr val="219D27"/>
                </a:solidFill>
              </a:rPr>
              <a:t>//Дефиниция за изключено състояние на мигача</a:t>
            </a:r>
            <a:endParaRPr lang="en-US" dirty="0">
              <a:solidFill>
                <a:srgbClr val="219D27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19D27"/>
                </a:solidFill>
              </a:rPr>
              <a:t>/* USER CODE END Includes */</a:t>
            </a:r>
          </a:p>
        </p:txBody>
      </p:sp>
    </p:spTree>
    <p:extLst>
      <p:ext uri="{BB962C8B-B14F-4D97-AF65-F5344CB8AC3E}">
        <p14:creationId xmlns:p14="http://schemas.microsoft.com/office/powerpoint/2010/main" val="185544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0D12B7-0B49-6DA3-9B60-626A77E2F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345232"/>
            <a:ext cx="11597951" cy="6512767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bg-BG" sz="2400" b="1" dirty="0"/>
              <a:t>2.2. Функции за движение на стъклото: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bg-BG" sz="1900" b="1" dirty="0"/>
              <a:t>2.2.1. Функция за движение нагоре: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 Move_UP(</a:t>
            </a: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                     HAL_GPIO_WritePin(GPIOB, GPIO_PIN_5, Off);</a:t>
            </a:r>
          </a:p>
          <a:p>
            <a:pPr marL="0" indent="0">
              <a:buNone/>
            </a:pPr>
            <a:r>
              <a:rPr lang="en-US" sz="1800" dirty="0"/>
              <a:t>	HAL_GPIO_WritePin(GPIOB, GPIO_PIN_9, On);</a:t>
            </a:r>
          </a:p>
          <a:p>
            <a:pPr marL="0" indent="0">
              <a:buNone/>
            </a:pPr>
            <a:r>
              <a:rPr lang="en-US" sz="1800" dirty="0"/>
              <a:t>	HAL_GPIO_WritePin(GPIOA, GPIO_PIN_6, On);</a:t>
            </a:r>
          </a:p>
          <a:p>
            <a:pPr marL="0" indent="0">
              <a:buNone/>
            </a:pPr>
            <a:r>
              <a:rPr lang="en-US" sz="1800" dirty="0"/>
              <a:t>	HAL_GPIO_WritePin(GPIOA, GPIO_PIN_7,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GPIO_PIN_14,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GPIO_PIN_15, Off);</a:t>
            </a:r>
          </a:p>
          <a:p>
            <a:pPr marL="0" indent="0">
              <a:buNone/>
            </a:pPr>
            <a:r>
              <a:rPr lang="en-US" sz="1800" dirty="0"/>
              <a:t>}</a:t>
            </a:r>
            <a:endParaRPr lang="bg-BG" sz="1800" dirty="0"/>
          </a:p>
          <a:p>
            <a:pPr marL="0" indent="0">
              <a:spcAft>
                <a:spcPts val="600"/>
              </a:spcAft>
              <a:buNone/>
            </a:pPr>
            <a:r>
              <a:rPr lang="bg-BG" sz="1900" b="1" dirty="0"/>
              <a:t>2.2.2. Функция за движение нагоре: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 Move_DOWN(</a:t>
            </a: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	HAL_GPIO_WritePin(GPIOB, GPIO_PIN_9, Off);</a:t>
            </a:r>
          </a:p>
          <a:p>
            <a:pPr marL="0" indent="0">
              <a:buNone/>
            </a:pPr>
            <a:r>
              <a:rPr lang="en-US" sz="1800" dirty="0"/>
              <a:t>	HAL_GPIO_WritePin(GPIOB, GPIO_PIN_5, On);</a:t>
            </a:r>
          </a:p>
          <a:p>
            <a:pPr marL="0" indent="0">
              <a:buNone/>
            </a:pPr>
            <a:r>
              <a:rPr lang="en-US" sz="1800" dirty="0"/>
              <a:t>	HAL_GPIO_WritePin(GPIOA, GPIO_PIN_6, On);</a:t>
            </a:r>
          </a:p>
          <a:p>
            <a:pPr marL="0" indent="0">
              <a:buNone/>
            </a:pPr>
            <a:r>
              <a:rPr lang="en-US" sz="1800" dirty="0"/>
              <a:t>	HAL_GPIO_WritePin(GPIOA, GPIO_PIN_7,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GPIO_PIN_14,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GPIO_PIN_15, Off);</a:t>
            </a:r>
          </a:p>
          <a:p>
            <a:pPr marL="0" indent="0">
              <a:buNone/>
            </a:pPr>
            <a:r>
              <a:rPr lang="en-US" sz="1800" dirty="0"/>
              <a:t>}</a:t>
            </a:r>
            <a:endParaRPr lang="bg-BG" sz="1800" dirty="0"/>
          </a:p>
          <a:p>
            <a:pPr marL="0" indent="0">
              <a:buNone/>
            </a:pPr>
            <a:endParaRPr lang="bg-BG" sz="2400" dirty="0"/>
          </a:p>
          <a:p>
            <a:pPr marL="0" indent="0">
              <a:spcAft>
                <a:spcPts val="600"/>
              </a:spcAft>
              <a:buNone/>
            </a:pPr>
            <a:r>
              <a:rPr lang="bg-BG" sz="1900" b="1" dirty="0"/>
              <a:t>2.2.3. Функция за движение наляво: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831CF"/>
                </a:solidFill>
              </a:rPr>
              <a:t>void </a:t>
            </a:r>
            <a:r>
              <a:rPr lang="en-US" sz="1800" dirty="0"/>
              <a:t>Move_LEFT(</a:t>
            </a: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	HAL_GPIO_WritePin(GPIOA, GPIO_PIN_6, Off);</a:t>
            </a:r>
          </a:p>
          <a:p>
            <a:pPr marL="0" indent="0">
              <a:buNone/>
            </a:pPr>
            <a:r>
              <a:rPr lang="en-US" sz="1800" dirty="0"/>
              <a:t>	HAL_GPIO_WritePin(GPIOA, GPIO_PIN_7, On);</a:t>
            </a:r>
          </a:p>
          <a:p>
            <a:pPr marL="0" indent="0">
              <a:buNone/>
            </a:pPr>
            <a:r>
              <a:rPr lang="en-US" sz="1800" dirty="0"/>
              <a:t>	HAL_GPIO_WritePin(GPIOB, GPIO_PIN_5, On);</a:t>
            </a:r>
          </a:p>
          <a:p>
            <a:pPr marL="0" indent="0">
              <a:buNone/>
            </a:pPr>
            <a:r>
              <a:rPr lang="en-US" sz="1800" dirty="0"/>
              <a:t>	HAL_GPIO_WritePin(GPIOB, GPIO_PIN_9,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GPIO_PIN_14, Off);</a:t>
            </a:r>
          </a:p>
          <a:p>
            <a:pPr marL="0" indent="0">
              <a:buNone/>
            </a:pPr>
            <a:r>
              <a:rPr lang="en-US" sz="1800" dirty="0"/>
              <a:t>	HAL_GPIO_WritePin(GPIOC, GPIO_PIN_15, On);</a:t>
            </a:r>
          </a:p>
          <a:p>
            <a:pPr marL="0" indent="0">
              <a:buNone/>
            </a:pPr>
            <a:r>
              <a:rPr lang="en-US" sz="1800" dirty="0"/>
              <a:t>} </a:t>
            </a:r>
            <a:endParaRPr lang="bg-BG" sz="1800" dirty="0"/>
          </a:p>
          <a:p>
            <a:pPr marL="0" indent="0">
              <a:spcAft>
                <a:spcPts val="600"/>
              </a:spcAft>
              <a:buNone/>
            </a:pPr>
            <a:r>
              <a:rPr lang="bg-BG" sz="1900" b="1" dirty="0"/>
              <a:t>2.2.4. Функция за движение надясно: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B831CF"/>
                </a:solidFill>
              </a:rPr>
              <a:t>void </a:t>
            </a:r>
            <a:r>
              <a:rPr lang="en-US" sz="1800" dirty="0"/>
              <a:t>Move_RIGHT(</a:t>
            </a:r>
            <a:r>
              <a:rPr lang="en-US" sz="1800" dirty="0">
                <a:solidFill>
                  <a:srgbClr val="B831CF"/>
                </a:solidFill>
              </a:rPr>
              <a:t>void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{</a:t>
            </a:r>
          </a:p>
          <a:p>
            <a:pPr marL="0" indent="0">
              <a:buNone/>
            </a:pPr>
            <a:r>
              <a:rPr lang="en-US" sz="1800" dirty="0"/>
              <a:t>	HAL_GPIO_WritePin(GPIOA, GPIO_PIN_7, Off);</a:t>
            </a:r>
          </a:p>
          <a:p>
            <a:pPr marL="0" indent="0">
              <a:buNone/>
            </a:pPr>
            <a:r>
              <a:rPr lang="en-US" sz="1800" dirty="0"/>
              <a:t>	HAL_GPIO_WritePin(GPIOA, GPIO_PIN_6, On);</a:t>
            </a:r>
          </a:p>
          <a:p>
            <a:pPr marL="0" indent="0">
              <a:buNone/>
            </a:pPr>
            <a:r>
              <a:rPr lang="en-US" sz="1800" dirty="0"/>
              <a:t>	HAL_GPIO_WritePin(GPIOB, GPIO_PIN_5, On);</a:t>
            </a:r>
          </a:p>
          <a:p>
            <a:pPr marL="0" indent="0">
              <a:buNone/>
            </a:pPr>
            <a:r>
              <a:rPr lang="en-US" sz="1800" dirty="0"/>
              <a:t>	HAL_GPIO_WritePin(GPIOB, GPIO_PIN_9, On);</a:t>
            </a:r>
          </a:p>
          <a:p>
            <a:pPr marL="0" indent="0">
              <a:buNone/>
            </a:pPr>
            <a:r>
              <a:rPr lang="en-US" sz="1800" dirty="0"/>
              <a:t>	HAL_GPIO_WritePin(GPIOC, GPIO_PIN_14, Off);</a:t>
            </a:r>
          </a:p>
          <a:p>
            <a:pPr marL="0" indent="0">
              <a:buNone/>
            </a:pPr>
            <a:r>
              <a:rPr lang="en-US" sz="1800" dirty="0"/>
              <a:t>	HAL_GPIO_WritePin(GPIOC, GPIO_PIN_15, On);</a:t>
            </a:r>
          </a:p>
          <a:p>
            <a:pPr marL="0" indent="0">
              <a:buNone/>
            </a:pPr>
            <a:r>
              <a:rPr lang="en-US" sz="1800" dirty="0"/>
              <a:t>}</a:t>
            </a:r>
            <a:endParaRPr lang="bg-BG" sz="1800" dirty="0"/>
          </a:p>
        </p:txBody>
      </p:sp>
    </p:spTree>
    <p:extLst>
      <p:ext uri="{BB962C8B-B14F-4D97-AF65-F5344CB8AC3E}">
        <p14:creationId xmlns:p14="http://schemas.microsoft.com/office/powerpoint/2010/main" val="12429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796D7B-2D4B-B357-6566-737CE439F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261258"/>
            <a:ext cx="11597951" cy="5046630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2000" b="1" dirty="0"/>
              <a:t>2.</a:t>
            </a:r>
            <a:r>
              <a:rPr lang="en-US" sz="2000" b="1" dirty="0"/>
              <a:t>3</a:t>
            </a:r>
            <a:r>
              <a:rPr lang="bg-BG" sz="2000" b="1" dirty="0"/>
              <a:t>. Функция за покой: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 DONT_MOVE(</a:t>
            </a: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)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	HAL_GPIO_WritePin(GPIOB, GPIO_PIN_5, On);</a:t>
            </a:r>
          </a:p>
          <a:p>
            <a:pPr marL="0" indent="0">
              <a:buNone/>
            </a:pPr>
            <a:r>
              <a:rPr lang="en-US" sz="1500" dirty="0"/>
              <a:t>	HAL_GPIO_WritePin(GPIOB, GPIO_PIN_9, On);</a:t>
            </a:r>
          </a:p>
          <a:p>
            <a:pPr marL="0" indent="0">
              <a:buNone/>
            </a:pPr>
            <a:r>
              <a:rPr lang="en-US" sz="1500" dirty="0"/>
              <a:t>	HAL_GPIO_WritePin(GPIOA, GPIO_PIN_6, On);</a:t>
            </a:r>
          </a:p>
          <a:p>
            <a:pPr marL="0" indent="0">
              <a:buNone/>
            </a:pPr>
            <a:r>
              <a:rPr lang="en-US" sz="1500" dirty="0"/>
              <a:t>	HAL_GPIO_WritePin(GPIOA, GPIO_PIN_7, On);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775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90AECE-DD02-1C46-029A-96EA96F7E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261259"/>
            <a:ext cx="11597951" cy="6232848"/>
          </a:xfrm>
        </p:spPr>
        <p:txBody>
          <a:bodyPr numCol="2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2000" b="1" dirty="0"/>
              <a:t>2.</a:t>
            </a:r>
            <a:r>
              <a:rPr lang="en-US" sz="2000" b="1" dirty="0"/>
              <a:t>4</a:t>
            </a:r>
            <a:r>
              <a:rPr lang="bg-BG" sz="2000" b="1" dirty="0"/>
              <a:t>. Функции за измерване на позицията </a:t>
            </a:r>
          </a:p>
          <a:p>
            <a:pPr marL="0" indent="0">
              <a:buNone/>
            </a:pPr>
            <a:r>
              <a:rPr lang="bg-BG" sz="1600" b="1" dirty="0"/>
              <a:t>2.4.1. Функция за измерване на позицията хоризонтално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 MeasureADCLR(</a:t>
            </a:r>
            <a:r>
              <a:rPr lang="en-US" sz="1500" dirty="0">
                <a:solidFill>
                  <a:srgbClr val="B831CF"/>
                </a:solidFill>
              </a:rPr>
              <a:t>float</a:t>
            </a:r>
            <a:r>
              <a:rPr lang="en-US" sz="1500" dirty="0"/>
              <a:t>* value)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	uint16_t valueraw=0;</a:t>
            </a:r>
          </a:p>
          <a:p>
            <a:pPr marL="0" indent="0">
              <a:buNone/>
            </a:pPr>
            <a:r>
              <a:rPr lang="en-US" sz="1500" dirty="0"/>
              <a:t>	HAL_ADC_Start(&amp;hadc1);</a:t>
            </a:r>
          </a:p>
          <a:p>
            <a:pPr marL="0" indent="0">
              <a:buNone/>
            </a:pPr>
            <a:r>
              <a:rPr lang="en-US" sz="1500" dirty="0"/>
              <a:t>	while(HAL_ADC_PollForConversion(&amp;hadc1, HAL_MAX_DELAY)!= HAL_OK)</a:t>
            </a:r>
          </a:p>
          <a:p>
            <a:pPr marL="0" indent="0">
              <a:buNone/>
            </a:pPr>
            <a:r>
              <a:rPr lang="en-US" sz="1500" dirty="0"/>
              <a:t>	{</a:t>
            </a:r>
            <a:r>
              <a:rPr lang="bg-BG" sz="1500" dirty="0"/>
              <a:t> </a:t>
            </a:r>
            <a:r>
              <a:rPr lang="en-US" sz="1500" dirty="0"/>
              <a:t>}</a:t>
            </a:r>
          </a:p>
          <a:p>
            <a:pPr marL="0" indent="0">
              <a:buNone/>
            </a:pPr>
            <a:r>
              <a:rPr lang="en-US" sz="1500" dirty="0"/>
              <a:t>	valueraw=HAL_ADC_GetValue(&amp;hadc1);</a:t>
            </a:r>
          </a:p>
          <a:p>
            <a:pPr marL="0" indent="0">
              <a:buNone/>
            </a:pPr>
            <a:r>
              <a:rPr lang="en-US" sz="1500" dirty="0"/>
              <a:t>	*value=__HAL_ADC_CALC_DATA_TO_VOLTAGE(VREF_ADC,</a:t>
            </a:r>
            <a:endParaRPr lang="bg-BG" sz="1500" dirty="0"/>
          </a:p>
          <a:p>
            <a:pPr marL="0" indent="0">
              <a:buNone/>
            </a:pPr>
            <a:r>
              <a:rPr lang="en-US" sz="1500" dirty="0"/>
              <a:t>valueraw,ADC_RESOLUTION_12B);</a:t>
            </a:r>
          </a:p>
          <a:p>
            <a:pPr marL="0" indent="0">
              <a:buNone/>
            </a:pPr>
            <a:r>
              <a:rPr lang="en-US" sz="1500" dirty="0"/>
              <a:t>}</a:t>
            </a:r>
            <a:endParaRPr lang="bg-BG" sz="1500" dirty="0"/>
          </a:p>
          <a:p>
            <a:pPr marL="0" indent="0">
              <a:buNone/>
            </a:pPr>
            <a:endParaRPr lang="bg-BG" sz="1600" b="1" dirty="0"/>
          </a:p>
          <a:p>
            <a:pPr marL="0" indent="0">
              <a:buNone/>
            </a:pPr>
            <a:endParaRPr lang="bg-BG" sz="1600" b="1" dirty="0"/>
          </a:p>
          <a:p>
            <a:pPr marL="0" indent="0">
              <a:buNone/>
            </a:pPr>
            <a:endParaRPr lang="bg-BG" sz="1600" b="1" dirty="0"/>
          </a:p>
          <a:p>
            <a:pPr marL="0" indent="0">
              <a:buNone/>
            </a:pPr>
            <a:endParaRPr lang="bg-BG" sz="1600" b="1" dirty="0"/>
          </a:p>
          <a:p>
            <a:pPr marL="0" indent="0">
              <a:buNone/>
            </a:pPr>
            <a:endParaRPr lang="bg-BG" sz="1600" b="1" dirty="0"/>
          </a:p>
          <a:p>
            <a:pPr marL="0" indent="0">
              <a:spcAft>
                <a:spcPts val="600"/>
              </a:spcAft>
              <a:buNone/>
            </a:pPr>
            <a:endParaRPr lang="bg-BG" sz="2000" b="1" dirty="0"/>
          </a:p>
          <a:p>
            <a:pPr marL="0" indent="0">
              <a:buNone/>
            </a:pPr>
            <a:r>
              <a:rPr lang="bg-BG" sz="1600" b="1" dirty="0"/>
              <a:t>2.4.2. Функция за измерване на позицията вертикално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 MeasureADCUD(</a:t>
            </a:r>
            <a:r>
              <a:rPr lang="en-US" sz="1500" dirty="0">
                <a:solidFill>
                  <a:srgbClr val="B831CF"/>
                </a:solidFill>
              </a:rPr>
              <a:t>float</a:t>
            </a:r>
            <a:r>
              <a:rPr lang="en-US" sz="1500" dirty="0"/>
              <a:t>* value)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	uint16_t valueraw=0;</a:t>
            </a:r>
          </a:p>
          <a:p>
            <a:pPr marL="0" indent="0">
              <a:buNone/>
            </a:pPr>
            <a:r>
              <a:rPr lang="en-US" sz="1500" dirty="0"/>
              <a:t>	HAL_ADC_Start(&amp;hadc2);</a:t>
            </a:r>
          </a:p>
          <a:p>
            <a:pPr marL="0" indent="0">
              <a:buNone/>
            </a:pPr>
            <a:r>
              <a:rPr lang="en-US" sz="1500" dirty="0"/>
              <a:t>	while(HAL_ADC_PollForConversion(&amp;hadc2, HAL_MAX_DELAY)!= HAL_OK)</a:t>
            </a:r>
          </a:p>
          <a:p>
            <a:pPr marL="0" indent="0">
              <a:buNone/>
            </a:pPr>
            <a:r>
              <a:rPr lang="en-US" sz="1500" dirty="0"/>
              <a:t>	{</a:t>
            </a:r>
            <a:r>
              <a:rPr lang="bg-BG" sz="1500" dirty="0"/>
              <a:t> </a:t>
            </a:r>
            <a:r>
              <a:rPr lang="en-US" sz="1500" dirty="0"/>
              <a:t>}</a:t>
            </a:r>
          </a:p>
          <a:p>
            <a:pPr marL="0" indent="0">
              <a:buNone/>
            </a:pPr>
            <a:r>
              <a:rPr lang="en-US" sz="1500" dirty="0"/>
              <a:t>	valueraw=HAL_ADC_GetValue(&amp;hadc2);</a:t>
            </a:r>
          </a:p>
          <a:p>
            <a:pPr marL="0" indent="0">
              <a:buNone/>
            </a:pPr>
            <a:r>
              <a:rPr lang="en-US" sz="1500" dirty="0"/>
              <a:t>	*value=__HAL_ADC_CALC_DATA_TO_VOLTAGE(VREF_ADC,</a:t>
            </a:r>
            <a:endParaRPr lang="bg-BG" sz="1500" dirty="0"/>
          </a:p>
          <a:p>
            <a:pPr marL="0" indent="0">
              <a:buNone/>
            </a:pPr>
            <a:r>
              <a:rPr lang="en-US" sz="1500" dirty="0"/>
              <a:t>valueraw,ADC_RESOLUTION_12B);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233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F1A16B-7390-EBA3-40BF-D1FA7A75A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261259"/>
            <a:ext cx="11597951" cy="6484774"/>
          </a:xfrm>
        </p:spPr>
        <p:txBody>
          <a:bodyPr numCol="2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2000" b="1" dirty="0"/>
              <a:t>2.5. Функции за самоцентриране </a:t>
            </a:r>
          </a:p>
          <a:p>
            <a:pPr marL="0" indent="0">
              <a:buNone/>
            </a:pPr>
            <a:r>
              <a:rPr lang="bg-BG" sz="1600" b="1" dirty="0"/>
              <a:t>2.5.1. Функция за центриране на позицията хоризонтално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 CentreGlassLR(</a:t>
            </a:r>
            <a:r>
              <a:rPr lang="en-US" sz="1500" dirty="0">
                <a:solidFill>
                  <a:srgbClr val="B831CF"/>
                </a:solidFill>
              </a:rPr>
              <a:t>float</a:t>
            </a:r>
            <a:r>
              <a:rPr lang="en-US" sz="1500" dirty="0"/>
              <a:t>* valueLR)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	MeasureADCLR(valueLR);</a:t>
            </a:r>
          </a:p>
          <a:p>
            <a:pPr marL="0" indent="0">
              <a:buNone/>
            </a:pPr>
            <a:r>
              <a:rPr lang="en-US" sz="1500" dirty="0"/>
              <a:t>	while(*valueLR&gt;(RefrencePositionLeftRight + Hys) || *valueLR&lt;(RefrencePositionLeftRight - Hys))</a:t>
            </a:r>
          </a:p>
          <a:p>
            <a:pPr marL="0" indent="0">
              <a:buNone/>
            </a:pPr>
            <a:r>
              <a:rPr lang="en-US" sz="1500" dirty="0"/>
              <a:t>	{</a:t>
            </a:r>
          </a:p>
          <a:p>
            <a:pPr marL="0" indent="0">
              <a:buNone/>
            </a:pPr>
            <a:r>
              <a:rPr lang="en-US" sz="1500" dirty="0"/>
              <a:t>		if(*valueLR&lt;(RefrencePositionLeftRight))</a:t>
            </a:r>
          </a:p>
          <a:p>
            <a:pPr marL="0" indent="0">
              <a:buNone/>
            </a:pPr>
            <a:r>
              <a:rPr lang="en-US" sz="1500" dirty="0"/>
              <a:t>		{</a:t>
            </a:r>
          </a:p>
          <a:p>
            <a:pPr marL="0" indent="0">
              <a:buNone/>
            </a:pPr>
            <a:r>
              <a:rPr lang="en-US" sz="1500" dirty="0"/>
              <a:t>			Move_RIGHT();</a:t>
            </a:r>
          </a:p>
          <a:p>
            <a:pPr marL="0" indent="0">
              <a:buNone/>
            </a:pPr>
            <a:r>
              <a:rPr lang="en-US" sz="1500" dirty="0"/>
              <a:t>		}</a:t>
            </a:r>
          </a:p>
          <a:p>
            <a:pPr marL="0" indent="0">
              <a:buNone/>
            </a:pPr>
            <a:r>
              <a:rPr lang="en-US" sz="1500" dirty="0"/>
              <a:t>		else</a:t>
            </a:r>
          </a:p>
          <a:p>
            <a:pPr marL="0" indent="0">
              <a:buNone/>
            </a:pPr>
            <a:r>
              <a:rPr lang="en-US" sz="1500" dirty="0"/>
              <a:t>		{</a:t>
            </a:r>
          </a:p>
          <a:p>
            <a:pPr marL="0" indent="0">
              <a:buNone/>
            </a:pPr>
            <a:r>
              <a:rPr lang="en-US" sz="1500" dirty="0"/>
              <a:t>			Move_LEFT();</a:t>
            </a:r>
          </a:p>
          <a:p>
            <a:pPr marL="0" indent="0">
              <a:buNone/>
            </a:pPr>
            <a:r>
              <a:rPr lang="en-US" sz="1500" dirty="0"/>
              <a:t>		}</a:t>
            </a:r>
          </a:p>
          <a:p>
            <a:pPr marL="0" indent="0">
              <a:buNone/>
            </a:pPr>
            <a:r>
              <a:rPr lang="en-US" sz="1500" dirty="0"/>
              <a:t>			MeasureADCLR(valueLR);</a:t>
            </a:r>
          </a:p>
          <a:p>
            <a:pPr marL="0" indent="0">
              <a:buNone/>
            </a:pPr>
            <a:r>
              <a:rPr lang="en-US" sz="1500" dirty="0"/>
              <a:t>	}</a:t>
            </a:r>
          </a:p>
          <a:p>
            <a:pPr marL="0" indent="0">
              <a:buNone/>
            </a:pPr>
            <a:r>
              <a:rPr lang="en-US" sz="1500" dirty="0"/>
              <a:t>}</a:t>
            </a:r>
            <a:endParaRPr lang="bg-BG" sz="2000" b="1" dirty="0"/>
          </a:p>
          <a:p>
            <a:pPr marL="0" indent="0">
              <a:spcAft>
                <a:spcPts val="600"/>
              </a:spcAft>
              <a:buNone/>
            </a:pPr>
            <a:endParaRPr lang="bg-BG" sz="2000" b="1" dirty="0"/>
          </a:p>
          <a:p>
            <a:pPr marL="0" indent="0">
              <a:buNone/>
            </a:pPr>
            <a:r>
              <a:rPr lang="bg-BG" sz="1600" b="1" dirty="0"/>
              <a:t>2.5.2. Функция за центриране на позицията вертикално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B831CF"/>
                </a:solidFill>
              </a:rPr>
              <a:t>void</a:t>
            </a:r>
            <a:r>
              <a:rPr lang="en-US" sz="1500" dirty="0"/>
              <a:t> CentreGlassUD(</a:t>
            </a:r>
            <a:r>
              <a:rPr lang="en-US" sz="1500" dirty="0">
                <a:solidFill>
                  <a:srgbClr val="B831CF"/>
                </a:solidFill>
              </a:rPr>
              <a:t>float</a:t>
            </a:r>
            <a:r>
              <a:rPr lang="en-US" sz="1500" dirty="0"/>
              <a:t>* valueUD)</a:t>
            </a:r>
          </a:p>
          <a:p>
            <a:pPr marL="0" indent="0">
              <a:buNone/>
            </a:pPr>
            <a:r>
              <a:rPr lang="en-US" sz="1500" dirty="0"/>
              <a:t>{</a:t>
            </a:r>
          </a:p>
          <a:p>
            <a:pPr marL="0" indent="0">
              <a:buNone/>
            </a:pPr>
            <a:r>
              <a:rPr lang="en-US" sz="1500" dirty="0"/>
              <a:t>	MeasureADCUD(valueUD);</a:t>
            </a:r>
          </a:p>
          <a:p>
            <a:pPr marL="0" indent="0">
              <a:buNone/>
            </a:pPr>
            <a:r>
              <a:rPr lang="en-US" sz="1500" dirty="0"/>
              <a:t>	while(*valueUD&gt;(RefrencePositionUpDown + Hys) || *valueUD&lt;(RefrencePositionUpDown - Hys))</a:t>
            </a:r>
          </a:p>
          <a:p>
            <a:pPr marL="0" indent="0">
              <a:buNone/>
            </a:pPr>
            <a:r>
              <a:rPr lang="en-US" sz="1500" dirty="0"/>
              <a:t>	{</a:t>
            </a:r>
          </a:p>
          <a:p>
            <a:pPr marL="0" indent="0">
              <a:buNone/>
            </a:pPr>
            <a:r>
              <a:rPr lang="en-US" sz="1500" dirty="0"/>
              <a:t>		if(*valueUD&lt;(RefrencePositionUpDown))</a:t>
            </a:r>
          </a:p>
          <a:p>
            <a:pPr marL="0" indent="0">
              <a:buNone/>
            </a:pPr>
            <a:r>
              <a:rPr lang="en-US" sz="1500" dirty="0"/>
              <a:t>		{</a:t>
            </a:r>
          </a:p>
          <a:p>
            <a:pPr marL="0" indent="0">
              <a:buNone/>
            </a:pPr>
            <a:r>
              <a:rPr lang="en-US" sz="1500" dirty="0"/>
              <a:t>			Move_UP();</a:t>
            </a:r>
          </a:p>
          <a:p>
            <a:pPr marL="0" indent="0">
              <a:buNone/>
            </a:pPr>
            <a:r>
              <a:rPr lang="en-US" sz="1500" dirty="0"/>
              <a:t>		}</a:t>
            </a:r>
          </a:p>
          <a:p>
            <a:pPr marL="0" indent="0">
              <a:buNone/>
            </a:pPr>
            <a:r>
              <a:rPr lang="en-US" sz="1500" dirty="0"/>
              <a:t>		else</a:t>
            </a:r>
          </a:p>
          <a:p>
            <a:pPr marL="0" indent="0">
              <a:buNone/>
            </a:pPr>
            <a:r>
              <a:rPr lang="en-US" sz="1500" dirty="0"/>
              <a:t>		{</a:t>
            </a:r>
          </a:p>
          <a:p>
            <a:pPr marL="0" indent="0">
              <a:buNone/>
            </a:pPr>
            <a:r>
              <a:rPr lang="en-US" sz="1500" dirty="0"/>
              <a:t>			Move_DOWN();</a:t>
            </a:r>
          </a:p>
          <a:p>
            <a:pPr marL="0" indent="0">
              <a:buNone/>
            </a:pPr>
            <a:r>
              <a:rPr lang="en-US" sz="1500" dirty="0"/>
              <a:t>		}</a:t>
            </a:r>
          </a:p>
          <a:p>
            <a:pPr marL="0" indent="0">
              <a:buNone/>
            </a:pPr>
            <a:r>
              <a:rPr lang="en-US" sz="1500" dirty="0"/>
              <a:t>		MeasureADCUD(valueUD);</a:t>
            </a:r>
          </a:p>
          <a:p>
            <a:pPr marL="0" indent="0">
              <a:buNone/>
            </a:pPr>
            <a:r>
              <a:rPr lang="en-US" sz="1500" dirty="0"/>
              <a:t>	}</a:t>
            </a:r>
          </a:p>
          <a:p>
            <a:pPr marL="0" indent="0">
              <a:buNone/>
            </a:pPr>
            <a:r>
              <a:rPr lang="en-US" sz="15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729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1DA66B4-BCA2-E142-A63C-271D7D32B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261258"/>
            <a:ext cx="11597951" cy="5046630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bg-BG" sz="2000" b="1" dirty="0"/>
              <a:t>2.6. Главна функия: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bg-BG" sz="2000" b="1" dirty="0">
                <a:hlinkClick r:id="rId2" action="ppaction://hlinkfile"/>
              </a:rPr>
              <a:t>Код огледало</a:t>
            </a:r>
            <a:endParaRPr lang="bg-BG" sz="2000" b="1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400" dirty="0">
                <a:latin typeface="Calibri Light (Headings)"/>
              </a:rPr>
              <a:t>III</a:t>
            </a:r>
            <a:r>
              <a:rPr lang="bg-BG" sz="4400" dirty="0">
                <a:latin typeface="Calibri Light (Headings)"/>
              </a:rPr>
              <a:t>. Тест.</a:t>
            </a:r>
            <a:endParaRPr lang="bg-BG" sz="4400" b="1" dirty="0">
              <a:latin typeface="Calibri Light (Headings)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bg-BG" sz="2000" b="1" dirty="0">
                <a:hlinkClick r:id="rId3" action="ppaction://hlinkfile"/>
              </a:rPr>
              <a:t>Тест на огледалото </a:t>
            </a:r>
            <a:endParaRPr lang="bg-BG" sz="2000" b="1" dirty="0"/>
          </a:p>
        </p:txBody>
      </p:sp>
    </p:spTree>
    <p:extLst>
      <p:ext uri="{BB962C8B-B14F-4D97-AF65-F5344CB8AC3E}">
        <p14:creationId xmlns:p14="http://schemas.microsoft.com/office/powerpoint/2010/main" val="184040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295FC-7A84-572A-35DB-3F6B350AD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211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5400" dirty="0"/>
              <a:t>Благодарим за вниманието!!!</a:t>
            </a:r>
          </a:p>
          <a:p>
            <a:pPr marL="0" indent="0" algn="ctr">
              <a:buNone/>
            </a:pP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9148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179</TotalTime>
  <Words>1458</Words>
  <Application>Microsoft Office PowerPoint</Application>
  <PresentationFormat>Widescreen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Calibri Light (Headings)</vt:lpstr>
      <vt:lpstr>Office Theme</vt:lpstr>
      <vt:lpstr>Проектиране огледало на автомобил</vt:lpstr>
      <vt:lpstr>I. Хардуер. 1. Принципна схема.</vt:lpstr>
      <vt:lpstr>2. Bill of Materials</vt:lpstr>
      <vt:lpstr>II. Софтуер. 1. Проектиране на IOC.</vt:lpstr>
      <vt:lpstr>2. Код.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Alexandar Pagkou</dc:creator>
  <cp:lastModifiedBy>Alexandar Pagkou</cp:lastModifiedBy>
  <cp:revision>3</cp:revision>
  <dcterms:created xsi:type="dcterms:W3CDTF">2025-12-15T18:36:59Z</dcterms:created>
  <dcterms:modified xsi:type="dcterms:W3CDTF">2025-12-16T15:43:24Z</dcterms:modified>
</cp:coreProperties>
</file>