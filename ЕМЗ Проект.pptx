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9D27"/>
    <a:srgbClr val="269834"/>
    <a:srgbClr val="3B833D"/>
    <a:srgbClr val="C557D8"/>
    <a:srgbClr val="B831CF"/>
    <a:srgbClr val="0000FF"/>
    <a:srgbClr val="952898"/>
    <a:srgbClr val="6A0DAD"/>
    <a:srgbClr val="3F7F5F"/>
    <a:srgbClr val="000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AD49-53CA-77E6-4643-1AB5AF6358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0AA6AB-0163-0F19-C210-284E5558C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A7F619-C2D9-C47C-59E4-94A9B87F7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C0F6E-4366-E5FB-FF00-A44EBB690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0EC74B-051D-D624-4164-C1A08DA97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3198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34519-5C53-DBB8-0B63-782ACE3BF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57DD9-475E-F75C-49CA-0FAA070DA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AE726-3B56-CE5A-0F72-C1BE1F2EC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7A423-93E9-EAFE-4878-73C43ECA8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A7B4F-0368-2FEF-386C-F5143151F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125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77FFD-3C76-EF0E-89DC-BC7AFB04A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9CCDE-59B1-22EA-6F98-62C7DD22C4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373F0B-0403-4D94-C4C8-7746EF42C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AA575-4589-975C-8394-1B8FCED8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561D4-3E4C-FAA2-48D9-2820D1AD7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711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950C9-45DF-4EE2-81DC-7C26B65AD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47B2A-6C6A-98BA-1E88-FA17CFD367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818EE3-A6D2-AFF3-B55B-C53A4C036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C91DCB-5719-DDCD-C90A-CA24DDC8B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A8E46-080D-1F49-020B-93B20F70C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73117D-B567-D897-8FB3-1F1E45E52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165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9C7AA-3FBB-1BEE-F695-1CBE84E08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BC780-2BD9-E05B-4441-8D0A68C9A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4707D-470D-FE2E-944A-7624C4DA4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5B25E3-1ABD-43E3-0EA2-B0B9DACE3E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CF42CC-F870-F932-82FD-07F0BDAE37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514346-35A1-0093-444D-F3066C526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CA5401-C4D5-7D95-8F0F-FE3CA3E8D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C494C1-2D5C-4D39-8757-DAC473E8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3190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CD991-3141-1D95-34D5-513427F40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CBE22A-7767-862E-DE35-2B856595C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D8EFD9-801E-9B01-FC3F-14C9E9C02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D50ECC-CEEF-5B3A-B90F-C8A3366EC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227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2EC50-38B5-A518-B4E3-FD825849A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E3EDE7-F03C-550D-B4CC-18A04D783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D300EC-5EE0-88B0-7A8E-48FBE6A9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581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6D3EA-115B-A09A-3E9A-46E552A53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97E08-85F1-144E-D7BE-AEABD85F5E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AB257F-B029-726E-273E-8C7C08C014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22BD75-6709-1659-553D-5D349D578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E3D59-1054-25E9-93E7-751C4BC9D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A7E604-3FA2-8170-3EA2-58BB2B675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7238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05AFA-4D8C-F7B3-0706-9C6738158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C4DDAD-101F-E7A5-3490-2F65B12C52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D5D970-C260-390F-7C56-3A3B6D1C6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9E0B45-D2FA-2342-105B-1470FE5D0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1D766A-5C0D-9F30-C12A-CD7588F5D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4CC39C-63A7-4C53-4BDF-5D66975E8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900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B244F-7FB3-45D2-D4AA-68FE8C23E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430367-0719-AEEE-962E-2F6BFB0E3F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246CB-AEA1-E70B-CFB6-682C78241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3454BC-A0A1-2AC8-DE40-C2E88814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AE4E14-5247-018B-7003-F21180125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5986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836E86-9BC5-62AD-BD3C-1AF58C514E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4F5A55-DB25-B0E4-71BD-F6163B9DB1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F7EF8-B16D-D08B-8822-0F7874087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BBB262-FABA-5BB1-FEE0-F5BC6F83E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F5579-CA52-D681-1A06-A7F47D56F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2345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62A68E-63C4-427C-1102-48AFE4A13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3DB264-C9C4-1DE1-92FE-B6345CCB8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0EF86-317E-2AD0-51DA-466520FF1E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D0C8D4-67C7-F6B0-372D-CCA9F1C6AC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B2658-0EAA-9CC5-EA30-A2663308B1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28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Alexandar%20Pagkou\Desktop\&#1058;&#1077;&#1089;&#1090;%20&#1085;&#1072;%20&#1082;&#1086;&#1076;.mp4" TargetMode="External"/><Relationship Id="rId2" Type="http://schemas.openxmlformats.org/officeDocument/2006/relationships/hyperlink" Target="file:///C:\Users\Alexandar%20Pagkou\Desktop\&#1050;&#1086;&#1076;%20&#1086;&#1075;&#1083;&#1077;&#1076;&#1072;&#1083;&#1086;.pdf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6B004-C7B3-B62F-7B64-E0BB409056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6118" y="1234329"/>
            <a:ext cx="11479763" cy="2387600"/>
          </a:xfrm>
        </p:spPr>
        <p:txBody>
          <a:bodyPr>
            <a:normAutofit fontScale="90000"/>
          </a:bodyPr>
          <a:lstStyle/>
          <a:p>
            <a:r>
              <a:rPr lang="bg-BG" dirty="0"/>
              <a:t>Проектиране на софтуер за управление на огледало на автомобил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88435B-E705-E791-E5D5-C1502FEBB0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0996" y="4907756"/>
            <a:ext cx="9144000" cy="1655762"/>
          </a:xfrm>
        </p:spPr>
        <p:txBody>
          <a:bodyPr>
            <a:normAutofit lnSpcReduction="10000"/>
          </a:bodyPr>
          <a:lstStyle/>
          <a:p>
            <a:pPr algn="r"/>
            <a:r>
              <a:rPr lang="bg-BG" dirty="0"/>
              <a:t>Дисциплина: Електромеханични задвижвания</a:t>
            </a:r>
          </a:p>
          <a:p>
            <a:pPr algn="r"/>
            <a:r>
              <a:rPr lang="bg-BG" dirty="0"/>
              <a:t>Катедра: Силова Електроника</a:t>
            </a:r>
          </a:p>
          <a:p>
            <a:pPr algn="r"/>
            <a:r>
              <a:rPr lang="bg-BG" dirty="0"/>
              <a:t>Ръководител: Християн Кънчев</a:t>
            </a:r>
          </a:p>
          <a:p>
            <a:pPr algn="r"/>
            <a:r>
              <a:rPr lang="bg-BG" dirty="0"/>
              <a:t>Изготвил: Александър Пагу 941222018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3449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2A4CE-5C8A-7CC8-835D-A6C293D94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1. Проектиране на </a:t>
            </a:r>
            <a:r>
              <a:rPr lang="en-US" dirty="0"/>
              <a:t>IOC</a:t>
            </a:r>
            <a:r>
              <a:rPr lang="bg-BG" dirty="0"/>
              <a:t>.</a:t>
            </a:r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CF965C3-4A8D-FF43-54B1-8E5E88AF10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09" r="18405"/>
          <a:stretch>
            <a:fillRect/>
          </a:stretch>
        </p:blipFill>
        <p:spPr>
          <a:xfrm>
            <a:off x="298579" y="1253331"/>
            <a:ext cx="4581332" cy="5424813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3DC9FD-1B7B-38D6-FD71-126A44701241}"/>
              </a:ext>
            </a:extLst>
          </p:cNvPr>
          <p:cNvSpPr txBox="1"/>
          <p:nvPr/>
        </p:nvSpPr>
        <p:spPr>
          <a:xfrm>
            <a:off x="5365103" y="1253331"/>
            <a:ext cx="6624734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2200" b="1" dirty="0"/>
              <a:t>Конфигурация на пиновете: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PB5 – Output </a:t>
            </a:r>
            <a:r>
              <a:rPr lang="bg-BG" dirty="0"/>
              <a:t>за движение нагоре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PB9 – Output </a:t>
            </a:r>
            <a:r>
              <a:rPr lang="bg-BG" dirty="0"/>
              <a:t>за движение надолу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PA6 – Output </a:t>
            </a:r>
            <a:r>
              <a:rPr lang="bg-BG" dirty="0"/>
              <a:t>за движение наляво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PA7 – Output </a:t>
            </a:r>
            <a:r>
              <a:rPr lang="bg-BG" dirty="0"/>
              <a:t>за движение надясно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PB7 – Output </a:t>
            </a:r>
            <a:r>
              <a:rPr lang="bg-BG" dirty="0"/>
              <a:t>към мигач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PC15 – Output </a:t>
            </a:r>
            <a:r>
              <a:rPr lang="bg-BG" dirty="0"/>
              <a:t>за разрешаване на </a:t>
            </a:r>
            <a:r>
              <a:rPr lang="en-US" dirty="0"/>
              <a:t>SEL0 </a:t>
            </a:r>
            <a:r>
              <a:rPr lang="bg-BG" dirty="0"/>
              <a:t>и </a:t>
            </a:r>
            <a:r>
              <a:rPr lang="en-US" dirty="0"/>
              <a:t>PWM</a:t>
            </a:r>
            <a:r>
              <a:rPr lang="bg-BG" dirty="0"/>
              <a:t> на драйвера управляващ мотора за вертикално движение на стъклото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PC1</a:t>
            </a:r>
            <a:r>
              <a:rPr lang="bg-BG" dirty="0"/>
              <a:t>4</a:t>
            </a:r>
            <a:r>
              <a:rPr lang="en-US" dirty="0"/>
              <a:t> – Output </a:t>
            </a:r>
            <a:r>
              <a:rPr lang="bg-BG" dirty="0"/>
              <a:t>за разрешаване на </a:t>
            </a:r>
            <a:r>
              <a:rPr lang="en-US" dirty="0"/>
              <a:t>SEL0 </a:t>
            </a:r>
            <a:r>
              <a:rPr lang="bg-BG" dirty="0"/>
              <a:t>и </a:t>
            </a:r>
            <a:r>
              <a:rPr lang="en-US" dirty="0"/>
              <a:t>PWM</a:t>
            </a:r>
            <a:r>
              <a:rPr lang="bg-BG" dirty="0"/>
              <a:t> на драйвера управляващ мотора за хоризонтално движение на стъклото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bg-B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PC13 – Input </a:t>
            </a:r>
            <a:r>
              <a:rPr lang="bg-BG" dirty="0"/>
              <a:t>от джойстика за активиране на мигача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PB10 </a:t>
            </a:r>
            <a:r>
              <a:rPr lang="bg-BG" dirty="0"/>
              <a:t>– </a:t>
            </a:r>
            <a:r>
              <a:rPr lang="en-US" dirty="0"/>
              <a:t>Input </a:t>
            </a:r>
            <a:r>
              <a:rPr lang="bg-BG" dirty="0"/>
              <a:t>от джойстика за движение нагоре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PC5 – Input </a:t>
            </a:r>
            <a:r>
              <a:rPr lang="bg-BG" dirty="0"/>
              <a:t>от джойстика за движение надолу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PC4 – Input </a:t>
            </a:r>
            <a:r>
              <a:rPr lang="bg-BG" dirty="0"/>
              <a:t>от джойстика за движение наляво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PB2 – Input </a:t>
            </a:r>
            <a:r>
              <a:rPr lang="bg-BG" dirty="0"/>
              <a:t>от джойстика за движение надясно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bg-B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PC0 – </a:t>
            </a:r>
            <a:r>
              <a:rPr lang="bg-BG" dirty="0"/>
              <a:t>АЦП за определяне на хоризонталната позиция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PC1 – </a:t>
            </a:r>
            <a:r>
              <a:rPr lang="bg-BG" dirty="0"/>
              <a:t>АЦП за определяне на вертикалната позиция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670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A524C-3D9D-29F0-0B1A-BE897A52B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2. Код.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9C8B19-DAAA-ECB2-CAA5-30DC7A0A1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24" y="1446245"/>
            <a:ext cx="11597951" cy="5046630"/>
          </a:xfrm>
        </p:spPr>
        <p:txBody>
          <a:bodyPr>
            <a:normAutofit fontScale="55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bg-BG" sz="3600" b="1" dirty="0"/>
              <a:t>2.1. Дефиниции:</a:t>
            </a:r>
            <a:endParaRPr lang="bg-BG" sz="2700" b="1" dirty="0"/>
          </a:p>
          <a:p>
            <a:pPr marL="0" indent="0">
              <a:buNone/>
            </a:pPr>
            <a:r>
              <a:rPr lang="en-US" dirty="0">
                <a:solidFill>
                  <a:srgbClr val="219D27"/>
                </a:solidFill>
              </a:rPr>
              <a:t>/* USER CODE BEGIN Includes */</a:t>
            </a: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VREF_ADC </a:t>
            </a:r>
            <a:r>
              <a:rPr lang="en-US" dirty="0">
                <a:solidFill>
                  <a:srgbClr val="0000FF"/>
                </a:solidFill>
              </a:rPr>
              <a:t>3300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//Дефинираме референтно напрежение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RefrencePositionLeftRight </a:t>
            </a:r>
            <a:r>
              <a:rPr lang="en-US" dirty="0">
                <a:solidFill>
                  <a:srgbClr val="0000FF"/>
                </a:solidFill>
              </a:rPr>
              <a:t>2025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//Дефиниране на хоризонтална централна позиция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RefrencePositionUpDown </a:t>
            </a:r>
            <a:r>
              <a:rPr lang="en-US" dirty="0">
                <a:solidFill>
                  <a:srgbClr val="0000FF"/>
                </a:solidFill>
              </a:rPr>
              <a:t>2100</a:t>
            </a:r>
            <a:r>
              <a:rPr lang="bg-BG" dirty="0">
                <a:solidFill>
                  <a:srgbClr val="00B050"/>
                </a:solidFill>
              </a:rPr>
              <a:t> </a:t>
            </a:r>
            <a:r>
              <a:rPr lang="bg-BG" dirty="0">
                <a:solidFill>
                  <a:srgbClr val="219D27"/>
                </a:solidFill>
              </a:rPr>
              <a:t>//Дефиниране на вертикална централна позиция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Hys </a:t>
            </a:r>
            <a:r>
              <a:rPr lang="en-US" dirty="0">
                <a:solidFill>
                  <a:srgbClr val="0000FF"/>
                </a:solidFill>
              </a:rPr>
              <a:t>10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//Дефиниране на хистерезис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On GPIO_PIN_RESET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улеснение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Off GPIO_PIN_SET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улеснение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Button_Click() HAL_GPIO_ReadPin(GPIOC, GPIO_PIN_13)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натиснат бутон на джойстика на контролера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Button_Up() HAL_GPIO_ReadPin(GPIOB, GPIO_PIN_10)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позиция на джойстика нагоре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Button_Down() HAL_GPIO_ReadPin(GPIOC, GPIO_PIN_5)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позиция на джойстика надолу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Button_Left() HAL_GPIO_ReadPin(GPIOC, GPIO_PIN_4)</a:t>
            </a:r>
            <a:r>
              <a:rPr lang="bg-BG" dirty="0">
                <a:solidFill>
                  <a:srgbClr val="3F7F5F"/>
                </a:solidFill>
              </a:rPr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позиция на джойстика наляво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Button_Right() HAL_GPIO_ReadPin(GPIOB, GPIO_PIN_2)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позиция на джойстика надясно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Blinker_On() HAL_GPIO_WritePin(GPIOB, GPIO_PIN_7, Off)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включено състояние на мигача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Blinker_Off() HAL_GPIO_WritePin(GPIOB, GPIO_PIN_7, On)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изключено състояние на мигача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219D27"/>
                </a:solidFill>
              </a:rPr>
              <a:t>/* USER CODE END Includes */</a:t>
            </a:r>
          </a:p>
        </p:txBody>
      </p:sp>
    </p:spTree>
    <p:extLst>
      <p:ext uri="{BB962C8B-B14F-4D97-AF65-F5344CB8AC3E}">
        <p14:creationId xmlns:p14="http://schemas.microsoft.com/office/powerpoint/2010/main" val="1855440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10D12B7-0B49-6DA3-9B60-626A77E2F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24" y="345232"/>
            <a:ext cx="11597951" cy="6512767"/>
          </a:xfrm>
        </p:spPr>
        <p:txBody>
          <a:bodyPr numCol="2">
            <a:normAutofit fontScale="85000" lnSpcReduction="20000"/>
          </a:bodyPr>
          <a:lstStyle/>
          <a:p>
            <a:pPr marL="0" indent="0">
              <a:buNone/>
            </a:pPr>
            <a:r>
              <a:rPr lang="bg-BG" sz="2400" b="1" dirty="0"/>
              <a:t>2.2. Функции за движение на стъклото: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bg-BG" sz="1900" b="1" dirty="0"/>
              <a:t>2.2.1. Функция за движение нагоре: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B831CF"/>
                </a:solidFill>
              </a:rPr>
              <a:t>void</a:t>
            </a:r>
            <a:r>
              <a:rPr lang="en-US" sz="1800" dirty="0"/>
              <a:t> Move_UP(</a:t>
            </a:r>
            <a:r>
              <a:rPr lang="en-US" sz="1800" dirty="0">
                <a:solidFill>
                  <a:srgbClr val="B831CF"/>
                </a:solidFill>
              </a:rPr>
              <a:t>void</a:t>
            </a:r>
            <a:r>
              <a:rPr lang="en-US" sz="1800" dirty="0"/>
              <a:t>)</a:t>
            </a:r>
          </a:p>
          <a:p>
            <a:pPr marL="0" indent="0">
              <a:buNone/>
            </a:pPr>
            <a:r>
              <a:rPr lang="en-US" sz="1800" dirty="0"/>
              <a:t>{</a:t>
            </a:r>
          </a:p>
          <a:p>
            <a:pPr marL="0" indent="0">
              <a:buNone/>
            </a:pPr>
            <a:r>
              <a:rPr lang="en-US" sz="1800" dirty="0"/>
              <a:t>                     HAL_GPIO_WritePin(GPIOB, GPIO_PIN_5, Off);</a:t>
            </a:r>
          </a:p>
          <a:p>
            <a:pPr marL="0" indent="0">
              <a:buNone/>
            </a:pPr>
            <a:r>
              <a:rPr lang="en-US" sz="1800" dirty="0"/>
              <a:t>	HAL_GPIO_WritePin(GPIOB, GPIO_PIN_9, On);</a:t>
            </a:r>
          </a:p>
          <a:p>
            <a:pPr marL="0" indent="0">
              <a:buNone/>
            </a:pPr>
            <a:r>
              <a:rPr lang="en-US" sz="1800" dirty="0"/>
              <a:t>	HAL_GPIO_WritePin(GPIOA, GPIO_PIN_6, On);</a:t>
            </a:r>
          </a:p>
          <a:p>
            <a:pPr marL="0" indent="0">
              <a:buNone/>
            </a:pPr>
            <a:r>
              <a:rPr lang="en-US" sz="1800" dirty="0"/>
              <a:t>	HAL_GPIO_WritePin(GPIOA, GPIO_PIN_7, On);</a:t>
            </a:r>
          </a:p>
          <a:p>
            <a:pPr marL="0" indent="0">
              <a:buNone/>
            </a:pPr>
            <a:r>
              <a:rPr lang="en-US" sz="1800" dirty="0"/>
              <a:t>	HAL_GPIO_WritePin(GPIOC, GPIO_PIN_14, On);</a:t>
            </a:r>
          </a:p>
          <a:p>
            <a:pPr marL="0" indent="0">
              <a:buNone/>
            </a:pPr>
            <a:r>
              <a:rPr lang="en-US" sz="1800" dirty="0"/>
              <a:t>	HAL_GPIO_WritePin(GPIOC, GPIO_PIN_15, Off);</a:t>
            </a:r>
          </a:p>
          <a:p>
            <a:pPr marL="0" indent="0">
              <a:buNone/>
            </a:pPr>
            <a:r>
              <a:rPr lang="en-US" sz="1800" dirty="0"/>
              <a:t>}</a:t>
            </a:r>
            <a:endParaRPr lang="bg-BG" sz="1800" dirty="0"/>
          </a:p>
          <a:p>
            <a:pPr marL="0" indent="0">
              <a:spcAft>
                <a:spcPts val="600"/>
              </a:spcAft>
              <a:buNone/>
            </a:pPr>
            <a:r>
              <a:rPr lang="bg-BG" sz="1900" b="1" dirty="0"/>
              <a:t>2.2.2. Функция за движение нагоре: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B831CF"/>
                </a:solidFill>
              </a:rPr>
              <a:t>void</a:t>
            </a:r>
            <a:r>
              <a:rPr lang="en-US" sz="1800" dirty="0"/>
              <a:t> Move_DOWN(</a:t>
            </a:r>
            <a:r>
              <a:rPr lang="en-US" sz="1800" dirty="0">
                <a:solidFill>
                  <a:srgbClr val="B831CF"/>
                </a:solidFill>
              </a:rPr>
              <a:t>void</a:t>
            </a:r>
            <a:r>
              <a:rPr lang="en-US" sz="1800" dirty="0"/>
              <a:t>)</a:t>
            </a:r>
          </a:p>
          <a:p>
            <a:pPr marL="0" indent="0">
              <a:buNone/>
            </a:pPr>
            <a:r>
              <a:rPr lang="en-US" sz="1800" dirty="0"/>
              <a:t>{</a:t>
            </a:r>
          </a:p>
          <a:p>
            <a:pPr marL="0" indent="0">
              <a:buNone/>
            </a:pPr>
            <a:r>
              <a:rPr lang="en-US" sz="1800" dirty="0"/>
              <a:t>	HAL_GPIO_WritePin(GPIOB, GPIO_PIN_9, Off);</a:t>
            </a:r>
          </a:p>
          <a:p>
            <a:pPr marL="0" indent="0">
              <a:buNone/>
            </a:pPr>
            <a:r>
              <a:rPr lang="en-US" sz="1800" dirty="0"/>
              <a:t>	HAL_GPIO_WritePin(GPIOB, GPIO_PIN_5, On);</a:t>
            </a:r>
          </a:p>
          <a:p>
            <a:pPr marL="0" indent="0">
              <a:buNone/>
            </a:pPr>
            <a:r>
              <a:rPr lang="en-US" sz="1800" dirty="0"/>
              <a:t>	HAL_GPIO_WritePin(GPIOA, GPIO_PIN_6, On);</a:t>
            </a:r>
          </a:p>
          <a:p>
            <a:pPr marL="0" indent="0">
              <a:buNone/>
            </a:pPr>
            <a:r>
              <a:rPr lang="en-US" sz="1800" dirty="0"/>
              <a:t>	HAL_GPIO_WritePin(GPIOA, GPIO_PIN_7, On);</a:t>
            </a:r>
          </a:p>
          <a:p>
            <a:pPr marL="0" indent="0">
              <a:buNone/>
            </a:pPr>
            <a:r>
              <a:rPr lang="en-US" sz="1800" dirty="0"/>
              <a:t>	HAL_GPIO_WritePin(GPIOC, GPIO_PIN_14, On);</a:t>
            </a:r>
          </a:p>
          <a:p>
            <a:pPr marL="0" indent="0">
              <a:buNone/>
            </a:pPr>
            <a:r>
              <a:rPr lang="en-US" sz="1800" dirty="0"/>
              <a:t>	HAL_GPIO_WritePin(GPIOC, GPIO_PIN_15, Off);</a:t>
            </a:r>
          </a:p>
          <a:p>
            <a:pPr marL="0" indent="0">
              <a:buNone/>
            </a:pPr>
            <a:r>
              <a:rPr lang="en-US" sz="1800" dirty="0"/>
              <a:t>}</a:t>
            </a:r>
            <a:endParaRPr lang="bg-BG" sz="1800" dirty="0"/>
          </a:p>
          <a:p>
            <a:pPr marL="0" indent="0">
              <a:buNone/>
            </a:pPr>
            <a:endParaRPr lang="bg-BG" sz="2400" dirty="0"/>
          </a:p>
          <a:p>
            <a:pPr marL="0" indent="0">
              <a:spcAft>
                <a:spcPts val="600"/>
              </a:spcAft>
              <a:buNone/>
            </a:pPr>
            <a:r>
              <a:rPr lang="bg-BG" sz="1900" b="1" dirty="0"/>
              <a:t>2.2.3. Функция за движение наляво: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B831CF"/>
                </a:solidFill>
              </a:rPr>
              <a:t>void </a:t>
            </a:r>
            <a:r>
              <a:rPr lang="en-US" sz="1800" dirty="0"/>
              <a:t>Move_LEFT(</a:t>
            </a:r>
            <a:r>
              <a:rPr lang="en-US" sz="1800" dirty="0">
                <a:solidFill>
                  <a:srgbClr val="B831CF"/>
                </a:solidFill>
              </a:rPr>
              <a:t>void</a:t>
            </a:r>
            <a:r>
              <a:rPr lang="en-US" sz="1800" dirty="0"/>
              <a:t>)</a:t>
            </a:r>
          </a:p>
          <a:p>
            <a:pPr marL="0" indent="0">
              <a:buNone/>
            </a:pPr>
            <a:r>
              <a:rPr lang="en-US" sz="1800" dirty="0"/>
              <a:t>{</a:t>
            </a:r>
          </a:p>
          <a:p>
            <a:pPr marL="0" indent="0">
              <a:buNone/>
            </a:pPr>
            <a:r>
              <a:rPr lang="en-US" sz="1800" dirty="0"/>
              <a:t>	HAL_GPIO_WritePin(GPIOA, GPIO_PIN_6, Off);</a:t>
            </a:r>
          </a:p>
          <a:p>
            <a:pPr marL="0" indent="0">
              <a:buNone/>
            </a:pPr>
            <a:r>
              <a:rPr lang="en-US" sz="1800" dirty="0"/>
              <a:t>	HAL_GPIO_WritePin(GPIOA, GPIO_PIN_7, On);</a:t>
            </a:r>
          </a:p>
          <a:p>
            <a:pPr marL="0" indent="0">
              <a:buNone/>
            </a:pPr>
            <a:r>
              <a:rPr lang="en-US" sz="1800" dirty="0"/>
              <a:t>	HAL_GPIO_WritePin(GPIOB, GPIO_PIN_5, On);</a:t>
            </a:r>
          </a:p>
          <a:p>
            <a:pPr marL="0" indent="0">
              <a:buNone/>
            </a:pPr>
            <a:r>
              <a:rPr lang="en-US" sz="1800" dirty="0"/>
              <a:t>	HAL_GPIO_WritePin(GPIOB, GPIO_PIN_9, On);</a:t>
            </a:r>
          </a:p>
          <a:p>
            <a:pPr marL="0" indent="0">
              <a:buNone/>
            </a:pPr>
            <a:r>
              <a:rPr lang="en-US" sz="1800" dirty="0"/>
              <a:t>	HAL_GPIO_WritePin(GPIOC, GPIO_PIN_14, Off);</a:t>
            </a:r>
          </a:p>
          <a:p>
            <a:pPr marL="0" indent="0">
              <a:buNone/>
            </a:pPr>
            <a:r>
              <a:rPr lang="en-US" sz="1800" dirty="0"/>
              <a:t>	HAL_GPIO_WritePin(GPIOC, GPIO_PIN_15, On);</a:t>
            </a:r>
          </a:p>
          <a:p>
            <a:pPr marL="0" indent="0">
              <a:buNone/>
            </a:pPr>
            <a:r>
              <a:rPr lang="en-US" sz="1800" dirty="0"/>
              <a:t>} </a:t>
            </a:r>
            <a:endParaRPr lang="bg-BG" sz="1800" dirty="0"/>
          </a:p>
          <a:p>
            <a:pPr marL="0" indent="0">
              <a:spcAft>
                <a:spcPts val="600"/>
              </a:spcAft>
              <a:buNone/>
            </a:pPr>
            <a:r>
              <a:rPr lang="bg-BG" sz="1900" b="1" dirty="0"/>
              <a:t>2.2.4. Функция за движение надясно: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B831CF"/>
                </a:solidFill>
              </a:rPr>
              <a:t>void </a:t>
            </a:r>
            <a:r>
              <a:rPr lang="en-US" sz="1800" dirty="0"/>
              <a:t>Move_RIGHT(</a:t>
            </a:r>
            <a:r>
              <a:rPr lang="en-US" sz="1800" dirty="0">
                <a:solidFill>
                  <a:srgbClr val="B831CF"/>
                </a:solidFill>
              </a:rPr>
              <a:t>void</a:t>
            </a:r>
            <a:r>
              <a:rPr lang="en-US" sz="1800" dirty="0"/>
              <a:t>)</a:t>
            </a:r>
          </a:p>
          <a:p>
            <a:pPr marL="0" indent="0">
              <a:buNone/>
            </a:pPr>
            <a:r>
              <a:rPr lang="en-US" sz="1800" dirty="0"/>
              <a:t>{</a:t>
            </a:r>
          </a:p>
          <a:p>
            <a:pPr marL="0" indent="0">
              <a:buNone/>
            </a:pPr>
            <a:r>
              <a:rPr lang="en-US" sz="1800" dirty="0"/>
              <a:t>	HAL_GPIO_WritePin(GPIOA, GPIO_PIN_7, Off);</a:t>
            </a:r>
          </a:p>
          <a:p>
            <a:pPr marL="0" indent="0">
              <a:buNone/>
            </a:pPr>
            <a:r>
              <a:rPr lang="en-US" sz="1800" dirty="0"/>
              <a:t>	HAL_GPIO_WritePin(GPIOA, GPIO_PIN_6, On);</a:t>
            </a:r>
          </a:p>
          <a:p>
            <a:pPr marL="0" indent="0">
              <a:buNone/>
            </a:pPr>
            <a:r>
              <a:rPr lang="en-US" sz="1800" dirty="0"/>
              <a:t>	HAL_GPIO_WritePin(GPIOB, GPIO_PIN_5, On);</a:t>
            </a:r>
          </a:p>
          <a:p>
            <a:pPr marL="0" indent="0">
              <a:buNone/>
            </a:pPr>
            <a:r>
              <a:rPr lang="en-US" sz="1800" dirty="0"/>
              <a:t>	HAL_GPIO_WritePin(GPIOB, GPIO_PIN_9, On);</a:t>
            </a:r>
          </a:p>
          <a:p>
            <a:pPr marL="0" indent="0">
              <a:buNone/>
            </a:pPr>
            <a:r>
              <a:rPr lang="en-US" sz="1800" dirty="0"/>
              <a:t>	HAL_GPIO_WritePin(GPIOC, GPIO_PIN_14, Off);</a:t>
            </a:r>
          </a:p>
          <a:p>
            <a:pPr marL="0" indent="0">
              <a:buNone/>
            </a:pPr>
            <a:r>
              <a:rPr lang="en-US" sz="1800" dirty="0"/>
              <a:t>	HAL_GPIO_WritePin(GPIOC, GPIO_PIN_15, On);</a:t>
            </a:r>
          </a:p>
          <a:p>
            <a:pPr marL="0" indent="0">
              <a:buNone/>
            </a:pPr>
            <a:r>
              <a:rPr lang="en-US" sz="1800" dirty="0"/>
              <a:t>}</a:t>
            </a:r>
            <a:endParaRPr lang="bg-BG" sz="1800" dirty="0"/>
          </a:p>
        </p:txBody>
      </p:sp>
    </p:spTree>
    <p:extLst>
      <p:ext uri="{BB962C8B-B14F-4D97-AF65-F5344CB8AC3E}">
        <p14:creationId xmlns:p14="http://schemas.microsoft.com/office/powerpoint/2010/main" val="124297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D796D7B-2D4B-B357-6566-737CE439F2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24" y="261258"/>
            <a:ext cx="11597951" cy="5046630"/>
          </a:xfrm>
        </p:spPr>
        <p:txBody>
          <a:bodyPr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bg-BG" sz="2000" b="1" dirty="0"/>
              <a:t>2.</a:t>
            </a:r>
            <a:r>
              <a:rPr lang="en-US" sz="2000" b="1" dirty="0"/>
              <a:t>3</a:t>
            </a:r>
            <a:r>
              <a:rPr lang="bg-BG" sz="2000" b="1" dirty="0"/>
              <a:t>. Функция за покой:</a:t>
            </a:r>
          </a:p>
          <a:p>
            <a:pPr marL="0" indent="0">
              <a:buNone/>
            </a:pPr>
            <a:r>
              <a:rPr lang="en-US" sz="1500" dirty="0">
                <a:solidFill>
                  <a:srgbClr val="B831CF"/>
                </a:solidFill>
              </a:rPr>
              <a:t>void</a:t>
            </a:r>
            <a:r>
              <a:rPr lang="en-US" sz="1500" dirty="0"/>
              <a:t> DONT_MOVE(</a:t>
            </a:r>
            <a:r>
              <a:rPr lang="en-US" sz="1500" dirty="0">
                <a:solidFill>
                  <a:srgbClr val="B831CF"/>
                </a:solidFill>
              </a:rPr>
              <a:t>void</a:t>
            </a:r>
            <a:r>
              <a:rPr lang="en-US" sz="1500" dirty="0"/>
              <a:t>)</a:t>
            </a:r>
          </a:p>
          <a:p>
            <a:pPr marL="0" indent="0">
              <a:buNone/>
            </a:pPr>
            <a:r>
              <a:rPr lang="en-US" sz="1500" dirty="0"/>
              <a:t>{</a:t>
            </a:r>
          </a:p>
          <a:p>
            <a:pPr marL="0" indent="0">
              <a:buNone/>
            </a:pPr>
            <a:r>
              <a:rPr lang="en-US" sz="1500" dirty="0"/>
              <a:t>	HAL_GPIO_WritePin(GPIOB, GPIO_PIN_5, On);</a:t>
            </a:r>
          </a:p>
          <a:p>
            <a:pPr marL="0" indent="0">
              <a:buNone/>
            </a:pPr>
            <a:r>
              <a:rPr lang="en-US" sz="1500" dirty="0"/>
              <a:t>	HAL_GPIO_WritePin(GPIOB, GPIO_PIN_9, On);</a:t>
            </a:r>
          </a:p>
          <a:p>
            <a:pPr marL="0" indent="0">
              <a:buNone/>
            </a:pPr>
            <a:r>
              <a:rPr lang="en-US" sz="1500" dirty="0"/>
              <a:t>	HAL_GPIO_WritePin(GPIOA, GPIO_PIN_6, On);</a:t>
            </a:r>
          </a:p>
          <a:p>
            <a:pPr marL="0" indent="0">
              <a:buNone/>
            </a:pPr>
            <a:r>
              <a:rPr lang="en-US" sz="1500" dirty="0"/>
              <a:t>	HAL_GPIO_WritePin(GPIOA, GPIO_PIN_7, On);</a:t>
            </a:r>
          </a:p>
          <a:p>
            <a:pPr marL="0" indent="0">
              <a:buNone/>
            </a:pPr>
            <a:r>
              <a:rPr lang="en-US" sz="15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3775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90AECE-DD02-1C46-029A-96EA96F7E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24" y="261259"/>
            <a:ext cx="11597951" cy="6232848"/>
          </a:xfrm>
        </p:spPr>
        <p:txBody>
          <a:bodyPr numCol="2"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bg-BG" sz="2000" b="1" dirty="0"/>
              <a:t>2.</a:t>
            </a:r>
            <a:r>
              <a:rPr lang="en-US" sz="2000" b="1" dirty="0"/>
              <a:t>4</a:t>
            </a:r>
            <a:r>
              <a:rPr lang="bg-BG" sz="2000" b="1" dirty="0"/>
              <a:t>. Функции за измерване на позицията </a:t>
            </a:r>
          </a:p>
          <a:p>
            <a:pPr marL="0" indent="0">
              <a:buNone/>
            </a:pPr>
            <a:r>
              <a:rPr lang="bg-BG" sz="1600" b="1" dirty="0"/>
              <a:t>2.4.1. Функция за измерване на позицията хоризонтално</a:t>
            </a:r>
          </a:p>
          <a:p>
            <a:pPr marL="0" indent="0">
              <a:buNone/>
            </a:pPr>
            <a:r>
              <a:rPr lang="en-US" sz="1500" dirty="0">
                <a:solidFill>
                  <a:srgbClr val="B831CF"/>
                </a:solidFill>
              </a:rPr>
              <a:t>void</a:t>
            </a:r>
            <a:r>
              <a:rPr lang="en-US" sz="1500" dirty="0"/>
              <a:t> MeasureADCLR(</a:t>
            </a:r>
            <a:r>
              <a:rPr lang="en-US" sz="1500" dirty="0">
                <a:solidFill>
                  <a:srgbClr val="B831CF"/>
                </a:solidFill>
              </a:rPr>
              <a:t>float</a:t>
            </a:r>
            <a:r>
              <a:rPr lang="en-US" sz="1500" dirty="0"/>
              <a:t>* value)</a:t>
            </a:r>
          </a:p>
          <a:p>
            <a:pPr marL="0" indent="0">
              <a:buNone/>
            </a:pPr>
            <a:r>
              <a:rPr lang="en-US" sz="1500" dirty="0"/>
              <a:t>{</a:t>
            </a:r>
          </a:p>
          <a:p>
            <a:pPr marL="0" indent="0">
              <a:buNone/>
            </a:pPr>
            <a:r>
              <a:rPr lang="en-US" sz="1500" dirty="0"/>
              <a:t>	uint16_t valueraw=0;</a:t>
            </a:r>
          </a:p>
          <a:p>
            <a:pPr marL="0" indent="0">
              <a:buNone/>
            </a:pPr>
            <a:r>
              <a:rPr lang="en-US" sz="1500" dirty="0"/>
              <a:t>	HAL_ADC_Start(&amp;hadc1);</a:t>
            </a:r>
          </a:p>
          <a:p>
            <a:pPr marL="0" indent="0">
              <a:buNone/>
            </a:pPr>
            <a:r>
              <a:rPr lang="en-US" sz="1500" dirty="0"/>
              <a:t>	while(HAL_ADC_PollForConversion(&amp;hadc1, HAL_MAX_DELAY)!= HAL_OK)</a:t>
            </a:r>
          </a:p>
          <a:p>
            <a:pPr marL="0" indent="0">
              <a:buNone/>
            </a:pPr>
            <a:r>
              <a:rPr lang="en-US" sz="1500" dirty="0"/>
              <a:t>	{</a:t>
            </a:r>
            <a:r>
              <a:rPr lang="bg-BG" sz="1500" dirty="0"/>
              <a:t> </a:t>
            </a:r>
            <a:r>
              <a:rPr lang="en-US" sz="1500" dirty="0"/>
              <a:t>}</a:t>
            </a:r>
          </a:p>
          <a:p>
            <a:pPr marL="0" indent="0">
              <a:buNone/>
            </a:pPr>
            <a:r>
              <a:rPr lang="en-US" sz="1500" dirty="0"/>
              <a:t>	valueraw=HAL_ADC_GetValue(&amp;hadc1);</a:t>
            </a:r>
          </a:p>
          <a:p>
            <a:pPr marL="0" indent="0">
              <a:buNone/>
            </a:pPr>
            <a:r>
              <a:rPr lang="en-US" sz="1500" dirty="0"/>
              <a:t>	*value=__HAL_ADC_CALC_DATA_TO_VOLTAGE(VREF_ADC,</a:t>
            </a:r>
            <a:endParaRPr lang="bg-BG" sz="1500" dirty="0"/>
          </a:p>
          <a:p>
            <a:pPr marL="0" indent="0">
              <a:buNone/>
            </a:pPr>
            <a:r>
              <a:rPr lang="en-US" sz="1500" dirty="0"/>
              <a:t>valueraw,ADC_RESOLUTION_12B);</a:t>
            </a:r>
          </a:p>
          <a:p>
            <a:pPr marL="0" indent="0">
              <a:buNone/>
            </a:pPr>
            <a:r>
              <a:rPr lang="en-US" sz="1500" dirty="0"/>
              <a:t>}</a:t>
            </a:r>
            <a:endParaRPr lang="bg-BG" sz="1500" dirty="0"/>
          </a:p>
          <a:p>
            <a:pPr marL="0" indent="0">
              <a:buNone/>
            </a:pPr>
            <a:endParaRPr lang="bg-BG" sz="1600" b="1" dirty="0"/>
          </a:p>
          <a:p>
            <a:pPr marL="0" indent="0">
              <a:buNone/>
            </a:pPr>
            <a:endParaRPr lang="bg-BG" sz="1600" b="1" dirty="0"/>
          </a:p>
          <a:p>
            <a:pPr marL="0" indent="0">
              <a:buNone/>
            </a:pPr>
            <a:endParaRPr lang="bg-BG" sz="1600" b="1" dirty="0"/>
          </a:p>
          <a:p>
            <a:pPr marL="0" indent="0">
              <a:buNone/>
            </a:pPr>
            <a:endParaRPr lang="bg-BG" sz="1600" b="1" dirty="0"/>
          </a:p>
          <a:p>
            <a:pPr marL="0" indent="0">
              <a:buNone/>
            </a:pPr>
            <a:endParaRPr lang="bg-BG" sz="1600" b="1" dirty="0"/>
          </a:p>
          <a:p>
            <a:pPr marL="0" indent="0">
              <a:spcAft>
                <a:spcPts val="600"/>
              </a:spcAft>
              <a:buNone/>
            </a:pPr>
            <a:endParaRPr lang="bg-BG" sz="2000" b="1" dirty="0"/>
          </a:p>
          <a:p>
            <a:pPr marL="0" indent="0">
              <a:buNone/>
            </a:pPr>
            <a:r>
              <a:rPr lang="bg-BG" sz="1600" b="1" dirty="0"/>
              <a:t>2.4.2. Функция за измерване на позицията вертикално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B831CF"/>
                </a:solidFill>
              </a:rPr>
              <a:t>void</a:t>
            </a:r>
            <a:r>
              <a:rPr lang="en-US" sz="1500" dirty="0"/>
              <a:t> MeasureADCUD(</a:t>
            </a:r>
            <a:r>
              <a:rPr lang="en-US" sz="1500" dirty="0">
                <a:solidFill>
                  <a:srgbClr val="B831CF"/>
                </a:solidFill>
              </a:rPr>
              <a:t>float</a:t>
            </a:r>
            <a:r>
              <a:rPr lang="en-US" sz="1500" dirty="0"/>
              <a:t>* value)</a:t>
            </a:r>
          </a:p>
          <a:p>
            <a:pPr marL="0" indent="0">
              <a:buNone/>
            </a:pPr>
            <a:r>
              <a:rPr lang="en-US" sz="1500" dirty="0"/>
              <a:t>{</a:t>
            </a:r>
          </a:p>
          <a:p>
            <a:pPr marL="0" indent="0">
              <a:buNone/>
            </a:pPr>
            <a:r>
              <a:rPr lang="en-US" sz="1500" dirty="0"/>
              <a:t>	uint16_t valueraw=0;</a:t>
            </a:r>
          </a:p>
          <a:p>
            <a:pPr marL="0" indent="0">
              <a:buNone/>
            </a:pPr>
            <a:r>
              <a:rPr lang="en-US" sz="1500" dirty="0"/>
              <a:t>	HAL_ADC_Start(&amp;hadc2);</a:t>
            </a:r>
          </a:p>
          <a:p>
            <a:pPr marL="0" indent="0">
              <a:buNone/>
            </a:pPr>
            <a:r>
              <a:rPr lang="en-US" sz="1500" dirty="0"/>
              <a:t>	while(HAL_ADC_PollForConversion(&amp;hadc2, HAL_MAX_DELAY)!= HAL_OK)</a:t>
            </a:r>
          </a:p>
          <a:p>
            <a:pPr marL="0" indent="0">
              <a:buNone/>
            </a:pPr>
            <a:r>
              <a:rPr lang="en-US" sz="1500" dirty="0"/>
              <a:t>	{</a:t>
            </a:r>
            <a:r>
              <a:rPr lang="bg-BG" sz="1500" dirty="0"/>
              <a:t> </a:t>
            </a:r>
            <a:r>
              <a:rPr lang="en-US" sz="1500" dirty="0"/>
              <a:t>}</a:t>
            </a:r>
          </a:p>
          <a:p>
            <a:pPr marL="0" indent="0">
              <a:buNone/>
            </a:pPr>
            <a:r>
              <a:rPr lang="en-US" sz="1500" dirty="0"/>
              <a:t>	valueraw=HAL_ADC_GetValue(&amp;hadc2);</a:t>
            </a:r>
          </a:p>
          <a:p>
            <a:pPr marL="0" indent="0">
              <a:buNone/>
            </a:pPr>
            <a:r>
              <a:rPr lang="en-US" sz="1500" dirty="0"/>
              <a:t>	*value=__HAL_ADC_CALC_DATA_TO_VOLTAGE(VREF_ADC,</a:t>
            </a:r>
            <a:endParaRPr lang="bg-BG" sz="1500" dirty="0"/>
          </a:p>
          <a:p>
            <a:pPr marL="0" indent="0">
              <a:buNone/>
            </a:pPr>
            <a:r>
              <a:rPr lang="en-US" sz="1500" dirty="0"/>
              <a:t>valueraw,ADC_RESOLUTION_12B);</a:t>
            </a:r>
          </a:p>
          <a:p>
            <a:pPr marL="0" indent="0">
              <a:buNone/>
            </a:pPr>
            <a:r>
              <a:rPr lang="en-US" sz="15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12338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F1A16B-7390-EBA3-40BF-D1FA7A75A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24" y="261259"/>
            <a:ext cx="11597951" cy="6484774"/>
          </a:xfrm>
        </p:spPr>
        <p:txBody>
          <a:bodyPr numCol="2"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bg-BG" sz="2000" b="1" dirty="0"/>
              <a:t>2.5. Функции за самоцентриране </a:t>
            </a:r>
          </a:p>
          <a:p>
            <a:pPr marL="0" indent="0">
              <a:buNone/>
            </a:pPr>
            <a:r>
              <a:rPr lang="bg-BG" sz="1600" b="1" dirty="0"/>
              <a:t>2.5.1. Функция за центриране на позицията хоризонтално</a:t>
            </a:r>
          </a:p>
          <a:p>
            <a:pPr marL="0" indent="0">
              <a:buNone/>
            </a:pPr>
            <a:r>
              <a:rPr lang="en-US" sz="1500" dirty="0">
                <a:solidFill>
                  <a:srgbClr val="B831CF"/>
                </a:solidFill>
              </a:rPr>
              <a:t>void</a:t>
            </a:r>
            <a:r>
              <a:rPr lang="en-US" sz="1500" dirty="0"/>
              <a:t> CentreGlassLR(</a:t>
            </a:r>
            <a:r>
              <a:rPr lang="en-US" sz="1500" dirty="0">
                <a:solidFill>
                  <a:srgbClr val="B831CF"/>
                </a:solidFill>
              </a:rPr>
              <a:t>float</a:t>
            </a:r>
            <a:r>
              <a:rPr lang="en-US" sz="1500" dirty="0"/>
              <a:t>* valueLR)</a:t>
            </a:r>
          </a:p>
          <a:p>
            <a:pPr marL="0" indent="0">
              <a:buNone/>
            </a:pPr>
            <a:r>
              <a:rPr lang="en-US" sz="1500" dirty="0"/>
              <a:t>{</a:t>
            </a:r>
          </a:p>
          <a:p>
            <a:pPr marL="0" indent="0">
              <a:buNone/>
            </a:pPr>
            <a:r>
              <a:rPr lang="en-US" sz="1500" dirty="0"/>
              <a:t>	MeasureADCLR(valueLR);</a:t>
            </a:r>
          </a:p>
          <a:p>
            <a:pPr marL="0" indent="0">
              <a:buNone/>
            </a:pPr>
            <a:r>
              <a:rPr lang="en-US" sz="1500" dirty="0"/>
              <a:t>	while(*valueLR&gt;(RefrencePositionLeftRight + Hys) || *valueLR&lt;(RefrencePositionLeftRight - Hys))</a:t>
            </a:r>
          </a:p>
          <a:p>
            <a:pPr marL="0" indent="0">
              <a:buNone/>
            </a:pPr>
            <a:r>
              <a:rPr lang="en-US" sz="1500" dirty="0"/>
              <a:t>	{</a:t>
            </a:r>
          </a:p>
          <a:p>
            <a:pPr marL="0" indent="0">
              <a:buNone/>
            </a:pPr>
            <a:r>
              <a:rPr lang="en-US" sz="1500" dirty="0"/>
              <a:t>		if(*valueLR&lt;(RefrencePositionLeftRight))</a:t>
            </a:r>
          </a:p>
          <a:p>
            <a:pPr marL="0" indent="0">
              <a:buNone/>
            </a:pPr>
            <a:r>
              <a:rPr lang="en-US" sz="1500" dirty="0"/>
              <a:t>		{</a:t>
            </a:r>
          </a:p>
          <a:p>
            <a:pPr marL="0" indent="0">
              <a:buNone/>
            </a:pPr>
            <a:r>
              <a:rPr lang="en-US" sz="1500" dirty="0"/>
              <a:t>			Move_RIGHT();</a:t>
            </a:r>
          </a:p>
          <a:p>
            <a:pPr marL="0" indent="0">
              <a:buNone/>
            </a:pPr>
            <a:r>
              <a:rPr lang="en-US" sz="1500" dirty="0"/>
              <a:t>		}</a:t>
            </a:r>
          </a:p>
          <a:p>
            <a:pPr marL="0" indent="0">
              <a:buNone/>
            </a:pPr>
            <a:r>
              <a:rPr lang="en-US" sz="1500" dirty="0"/>
              <a:t>		else</a:t>
            </a:r>
          </a:p>
          <a:p>
            <a:pPr marL="0" indent="0">
              <a:buNone/>
            </a:pPr>
            <a:r>
              <a:rPr lang="en-US" sz="1500" dirty="0"/>
              <a:t>		{</a:t>
            </a:r>
          </a:p>
          <a:p>
            <a:pPr marL="0" indent="0">
              <a:buNone/>
            </a:pPr>
            <a:r>
              <a:rPr lang="en-US" sz="1500" dirty="0"/>
              <a:t>			Move_LEFT();</a:t>
            </a:r>
          </a:p>
          <a:p>
            <a:pPr marL="0" indent="0">
              <a:buNone/>
            </a:pPr>
            <a:r>
              <a:rPr lang="en-US" sz="1500" dirty="0"/>
              <a:t>		}</a:t>
            </a:r>
          </a:p>
          <a:p>
            <a:pPr marL="0" indent="0">
              <a:buNone/>
            </a:pPr>
            <a:r>
              <a:rPr lang="en-US" sz="1500" dirty="0"/>
              <a:t>			MeasureADCLR(valueLR);</a:t>
            </a:r>
          </a:p>
          <a:p>
            <a:pPr marL="0" indent="0">
              <a:buNone/>
            </a:pPr>
            <a:r>
              <a:rPr lang="en-US" sz="1500" dirty="0"/>
              <a:t>	}</a:t>
            </a:r>
          </a:p>
          <a:p>
            <a:pPr marL="0" indent="0">
              <a:buNone/>
            </a:pPr>
            <a:r>
              <a:rPr lang="en-US" sz="1500" dirty="0"/>
              <a:t>}</a:t>
            </a:r>
            <a:endParaRPr lang="bg-BG" sz="2000" b="1" dirty="0"/>
          </a:p>
          <a:p>
            <a:pPr marL="0" indent="0">
              <a:spcAft>
                <a:spcPts val="600"/>
              </a:spcAft>
              <a:buNone/>
            </a:pPr>
            <a:endParaRPr lang="bg-BG" sz="2000" b="1" dirty="0"/>
          </a:p>
          <a:p>
            <a:pPr marL="0" indent="0">
              <a:buNone/>
            </a:pPr>
            <a:r>
              <a:rPr lang="bg-BG" sz="1600" b="1" dirty="0"/>
              <a:t>2.5.2. Функция за центриране на позицията вертикално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B831CF"/>
                </a:solidFill>
              </a:rPr>
              <a:t>void</a:t>
            </a:r>
            <a:r>
              <a:rPr lang="en-US" sz="1500" dirty="0"/>
              <a:t> CentreGlassUD(</a:t>
            </a:r>
            <a:r>
              <a:rPr lang="en-US" sz="1500" dirty="0">
                <a:solidFill>
                  <a:srgbClr val="B831CF"/>
                </a:solidFill>
              </a:rPr>
              <a:t>float</a:t>
            </a:r>
            <a:r>
              <a:rPr lang="en-US" sz="1500" dirty="0"/>
              <a:t>* valueUD)</a:t>
            </a:r>
          </a:p>
          <a:p>
            <a:pPr marL="0" indent="0">
              <a:buNone/>
            </a:pPr>
            <a:r>
              <a:rPr lang="en-US" sz="1500" dirty="0"/>
              <a:t>{</a:t>
            </a:r>
          </a:p>
          <a:p>
            <a:pPr marL="0" indent="0">
              <a:buNone/>
            </a:pPr>
            <a:r>
              <a:rPr lang="en-US" sz="1500" dirty="0"/>
              <a:t>	MeasureADCUD(valueUD);</a:t>
            </a:r>
          </a:p>
          <a:p>
            <a:pPr marL="0" indent="0">
              <a:buNone/>
            </a:pPr>
            <a:r>
              <a:rPr lang="en-US" sz="1500" dirty="0"/>
              <a:t>	while(*valueUD&gt;(RefrencePositionUpDown + Hys) || *valueUD&lt;(RefrencePositionUpDown - Hys))</a:t>
            </a:r>
          </a:p>
          <a:p>
            <a:pPr marL="0" indent="0">
              <a:buNone/>
            </a:pPr>
            <a:r>
              <a:rPr lang="en-US" sz="1500" dirty="0"/>
              <a:t>	{</a:t>
            </a:r>
          </a:p>
          <a:p>
            <a:pPr marL="0" indent="0">
              <a:buNone/>
            </a:pPr>
            <a:r>
              <a:rPr lang="en-US" sz="1500" dirty="0"/>
              <a:t>		if(*valueUD&lt;(RefrencePositionUpDown))</a:t>
            </a:r>
          </a:p>
          <a:p>
            <a:pPr marL="0" indent="0">
              <a:buNone/>
            </a:pPr>
            <a:r>
              <a:rPr lang="en-US" sz="1500" dirty="0"/>
              <a:t>		{</a:t>
            </a:r>
          </a:p>
          <a:p>
            <a:pPr marL="0" indent="0">
              <a:buNone/>
            </a:pPr>
            <a:r>
              <a:rPr lang="en-US" sz="1500" dirty="0"/>
              <a:t>			Move_UP();</a:t>
            </a:r>
          </a:p>
          <a:p>
            <a:pPr marL="0" indent="0">
              <a:buNone/>
            </a:pPr>
            <a:r>
              <a:rPr lang="en-US" sz="1500" dirty="0"/>
              <a:t>		}</a:t>
            </a:r>
          </a:p>
          <a:p>
            <a:pPr marL="0" indent="0">
              <a:buNone/>
            </a:pPr>
            <a:r>
              <a:rPr lang="en-US" sz="1500" dirty="0"/>
              <a:t>		else</a:t>
            </a:r>
          </a:p>
          <a:p>
            <a:pPr marL="0" indent="0">
              <a:buNone/>
            </a:pPr>
            <a:r>
              <a:rPr lang="en-US" sz="1500" dirty="0"/>
              <a:t>		{</a:t>
            </a:r>
          </a:p>
          <a:p>
            <a:pPr marL="0" indent="0">
              <a:buNone/>
            </a:pPr>
            <a:r>
              <a:rPr lang="en-US" sz="1500" dirty="0"/>
              <a:t>			Move_DOWN();</a:t>
            </a:r>
          </a:p>
          <a:p>
            <a:pPr marL="0" indent="0">
              <a:buNone/>
            </a:pPr>
            <a:r>
              <a:rPr lang="en-US" sz="1500" dirty="0"/>
              <a:t>		}</a:t>
            </a:r>
          </a:p>
          <a:p>
            <a:pPr marL="0" indent="0">
              <a:buNone/>
            </a:pPr>
            <a:r>
              <a:rPr lang="en-US" sz="1500" dirty="0"/>
              <a:t>		MeasureADCUD(valueUD);</a:t>
            </a:r>
          </a:p>
          <a:p>
            <a:pPr marL="0" indent="0">
              <a:buNone/>
            </a:pPr>
            <a:r>
              <a:rPr lang="en-US" sz="1500" dirty="0"/>
              <a:t>	}</a:t>
            </a:r>
          </a:p>
          <a:p>
            <a:pPr marL="0" indent="0">
              <a:buNone/>
            </a:pPr>
            <a:r>
              <a:rPr lang="en-US" sz="15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57298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1DA66B4-BCA2-E142-A63C-271D7D32B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24" y="261258"/>
            <a:ext cx="11597951" cy="5046630"/>
          </a:xfrm>
        </p:spPr>
        <p:txBody>
          <a:bodyPr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bg-BG" sz="2000" b="1" dirty="0"/>
              <a:t>2.6. Главна функия: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bg-BG" sz="2000" b="1" dirty="0">
                <a:hlinkClick r:id="rId2" action="ppaction://hlinkfile"/>
              </a:rPr>
              <a:t>Код огледало</a:t>
            </a:r>
            <a:endParaRPr lang="bg-BG" sz="2000" b="1" dirty="0"/>
          </a:p>
          <a:p>
            <a:pPr marL="0" indent="0">
              <a:spcAft>
                <a:spcPts val="600"/>
              </a:spcAft>
              <a:buNone/>
            </a:pPr>
            <a:r>
              <a:rPr lang="bg-BG" sz="4400" dirty="0">
                <a:latin typeface="Calibri Light (Headings)"/>
              </a:rPr>
              <a:t>3. Тест.</a:t>
            </a:r>
            <a:endParaRPr lang="bg-BG" sz="4400" b="1" dirty="0">
              <a:latin typeface="Calibri Light (Headings)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bg-BG" sz="2000" b="1" dirty="0">
                <a:hlinkClick r:id="rId3" action="ppaction://hlinkfile"/>
              </a:rPr>
              <a:t>Тест на огледалото </a:t>
            </a:r>
            <a:endParaRPr lang="bg-BG" sz="2000" b="1" dirty="0"/>
          </a:p>
        </p:txBody>
      </p:sp>
    </p:spTree>
    <p:extLst>
      <p:ext uri="{BB962C8B-B14F-4D97-AF65-F5344CB8AC3E}">
        <p14:creationId xmlns:p14="http://schemas.microsoft.com/office/powerpoint/2010/main" val="1840404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295FC-7A84-572A-35DB-3F6B350AD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2115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bg-BG" sz="5400" dirty="0"/>
              <a:t>Благодаря за вниманието!!!</a:t>
            </a:r>
          </a:p>
          <a:p>
            <a:pPr marL="0" indent="0" algn="ctr">
              <a:buNone/>
            </a:pP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3791485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139</TotalTime>
  <Words>1398</Words>
  <Application>Microsoft Office PowerPoint</Application>
  <PresentationFormat>Widescreen</PresentationFormat>
  <Paragraphs>160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Calibri Light (Headings)</vt:lpstr>
      <vt:lpstr>Office Theme</vt:lpstr>
      <vt:lpstr>Проектиране на софтуер за управление на огледало на автомобил</vt:lpstr>
      <vt:lpstr>1. Проектиране на IOC.</vt:lpstr>
      <vt:lpstr>2. Код.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Alexandar Pagkou</dc:creator>
  <cp:lastModifiedBy>Alexandar Pagkou</cp:lastModifiedBy>
  <cp:revision>2</cp:revision>
  <dcterms:created xsi:type="dcterms:W3CDTF">2025-12-15T18:36:59Z</dcterms:created>
  <dcterms:modified xsi:type="dcterms:W3CDTF">2025-12-16T14:42:52Z</dcterms:modified>
</cp:coreProperties>
</file>